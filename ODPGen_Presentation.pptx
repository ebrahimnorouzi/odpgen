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2183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C8EBF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8EBF"/>
                </a:solidFill>
              </a:rPr>
              <a:t>RESEARCH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0" b="1" i="0">
                <a:solidFill>
                  <a:srgbClr val="E8EAF0"/>
                </a:solidFill>
              </a:rPr>
              <a:t>ODPGen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42032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8892A4"/>
                </a:solidFill>
              </a:rPr>
              <a:t>Benchmarking Large Language Models on
Ontology Design Pattern 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64992"/>
            <a:ext cx="5029200" cy="19050"/>
          </a:xfrm>
          <a:prstGeom prst="rect">
            <a:avLst/>
          </a:prstGeom>
          <a:solidFill>
            <a:srgbClr val="6C8EBF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</a:rPr>
              <a:t>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764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AB4F8"/>
                </a:solidFill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5204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</a:rPr>
              <a:t>Prompt Configs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7764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AB4F8"/>
                </a:solidFill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</a:rPr>
              <a:t>ODP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537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AB4F8"/>
                </a:solidFill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2976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</a:rPr>
              <a:t>Total 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5537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AB4F8"/>
                </a:solidFill>
              </a:rPr>
              <a:t>420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463040"/>
            <a:ext cx="2286000" cy="1737360"/>
          </a:xfrm>
          <a:prstGeom prst="rect">
            <a:avLst/>
          </a:prstGeom>
          <a:solidFill>
            <a:srgbClr val="1A1D2E"/>
          </a:solidFill>
          <a:ln w="190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62763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AB4F8"/>
                </a:solidFill>
              </a:rPr>
              <a:t>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2A4"/>
                </a:solidFill>
              </a:rPr>
              <a:t>runs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463040"/>
            <a:ext cx="2286000" cy="1737360"/>
          </a:xfrm>
          <a:prstGeom prst="rect">
            <a:avLst/>
          </a:prstGeom>
          <a:solidFill>
            <a:srgbClr val="1A1D2E"/>
          </a:solidFill>
          <a:ln w="190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62763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AB4F8"/>
                </a:solidFill>
              </a:rP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2A4"/>
                </a:solidFill>
              </a:rPr>
              <a:t>scenarios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3657600"/>
            <a:ext cx="2286000" cy="1737360"/>
          </a:xfrm>
          <a:prstGeom prst="rect">
            <a:avLst/>
          </a:prstGeom>
          <a:solidFill>
            <a:srgbClr val="1A1D2E"/>
          </a:solidFill>
          <a:ln w="190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82219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AB4F8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2A4"/>
                </a:solidFill>
              </a:rPr>
              <a:t>configs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720" y="3657600"/>
            <a:ext cx="2286000" cy="1737360"/>
          </a:xfrm>
          <a:prstGeom prst="rect">
            <a:avLst/>
          </a:prstGeom>
          <a:solidFill>
            <a:srgbClr val="1A1D2E"/>
          </a:solidFill>
          <a:ln w="190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382219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AB4F8"/>
                </a:solidFill>
              </a:rPr>
              <a:t>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2A4"/>
                </a:solidFill>
              </a:rPr>
              <a:t>metrics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02920" cy="32004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283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AB4F8"/>
                </a:solidFill>
              </a:rPr>
              <a:t>Overview &amp; Research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270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5029200" cy="2743200"/>
          </a:xfrm>
          <a:prstGeom prst="rect">
            <a:avLst/>
          </a:prstGeom>
          <a:solidFill>
            <a:srgbClr val="1A1D2E"/>
          </a:solidFill>
          <a:ln w="1905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1204468"/>
            <a:ext cx="487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B4F8"/>
                </a:solidFill>
              </a:rPr>
              <a:t>Research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463040"/>
            <a:ext cx="4876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RQ1  How well can LLMs generate valid OWL/Turtle from scenarios?
• RQ2  How logically consistent and error-free are outputs?
• RQ3  What is the impact of prompting strategy?
• RQ4  How faithful are outputs to the ground-truth scenario?
• RQ5  Can models generalize to recently-published ODPs?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115568"/>
            <a:ext cx="1463040" cy="1280160"/>
          </a:xfrm>
          <a:prstGeom prst="rect">
            <a:avLst/>
          </a:prstGeom>
          <a:solidFill>
            <a:srgbClr val="1A1D2E"/>
          </a:solidFill>
          <a:ln w="190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2801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AB4F8"/>
                </a:solidFill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8928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2A4"/>
                </a:solidFill>
              </a:rPr>
              <a:t>LLMs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115568"/>
            <a:ext cx="1463040" cy="1280160"/>
          </a:xfrm>
          <a:prstGeom prst="rect">
            <a:avLst/>
          </a:prstGeom>
          <a:solidFill>
            <a:srgbClr val="1A1D2E"/>
          </a:solidFill>
          <a:ln w="190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2801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AB4F8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8928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2A4"/>
                </a:solidFill>
              </a:rPr>
              <a:t>Configs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115568"/>
            <a:ext cx="1463040" cy="1280160"/>
          </a:xfrm>
          <a:prstGeom prst="rect">
            <a:avLst/>
          </a:prstGeom>
          <a:solidFill>
            <a:srgbClr val="1A1D2E"/>
          </a:solidFill>
          <a:ln w="190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2801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AB4F8"/>
                </a:solidFill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8928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2A4"/>
                </a:solidFill>
              </a:rPr>
              <a:t>Scenarios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61320" y="1115568"/>
            <a:ext cx="1463040" cy="1280160"/>
          </a:xfrm>
          <a:prstGeom prst="rect">
            <a:avLst/>
          </a:prstGeom>
          <a:solidFill>
            <a:srgbClr val="1A1D2E"/>
          </a:solidFill>
          <a:ln w="190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61320" y="12801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AB4F8"/>
                </a:solidFill>
              </a:rPr>
              <a:t>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18928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2A4"/>
                </a:solidFill>
              </a:rPr>
              <a:t>Runs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77639"/>
            <a:ext cx="11247120" cy="594360"/>
          </a:xfrm>
          <a:prstGeom prst="rect">
            <a:avLst/>
          </a:prstGeom>
          <a:solidFill>
            <a:srgbClr val="0D1117"/>
          </a:solidFill>
          <a:ln w="2540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053839"/>
            <a:ext cx="10972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Core hypothesis: structured prompting (CQs + reasoning or self-validation) should improve faithfulness — but may trade off syntactic correctness for weaker models.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2560320" cy="1737360"/>
          </a:xfrm>
          <a:prstGeom prst="rect">
            <a:avLst/>
          </a:prstGeom>
          <a:solidFill>
            <a:srgbClr val="1A1D2E"/>
          </a:solidFill>
          <a:ln w="190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9194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AB4F8"/>
                </a:solidFill>
              </a:rPr>
              <a:t>420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532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2A4"/>
                </a:solidFill>
              </a:rPr>
              <a:t>evaluated outputs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4754880"/>
            <a:ext cx="2560320" cy="1737360"/>
          </a:xfrm>
          <a:prstGeom prst="rect">
            <a:avLst/>
          </a:prstGeom>
          <a:solidFill>
            <a:srgbClr val="1A1D2E"/>
          </a:solidFill>
          <a:ln w="190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49194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4CAF7D"/>
                </a:solidFill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5532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2A4"/>
                </a:solidFill>
              </a:rPr>
              <a:t>ODP scenarios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754880"/>
            <a:ext cx="2560320" cy="1737360"/>
          </a:xfrm>
          <a:prstGeom prst="rect">
            <a:avLst/>
          </a:prstGeom>
          <a:solidFill>
            <a:srgbClr val="1A1D2E"/>
          </a:solidFill>
          <a:ln w="190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49194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0C060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532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2A4"/>
                </a:solidFill>
              </a:rPr>
              <a:t>prompt configs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4754880"/>
            <a:ext cx="2560320" cy="1737360"/>
          </a:xfrm>
          <a:prstGeom prst="rect">
            <a:avLst/>
          </a:prstGeom>
          <a:solidFill>
            <a:srgbClr val="1A1D2E"/>
          </a:solidFill>
          <a:ln w="190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0" y="49194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B39DDB"/>
                </a:solidFill>
              </a:rPr>
              <a:t>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5532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2A4"/>
                </a:solidFill>
              </a:rPr>
              <a:t>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02920" cy="32004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283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AB4F8"/>
                </a:solidFill>
              </a:rPr>
              <a:t>Dataset — 14 ODP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270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2A4"/>
                </a:solidFill>
              </a:rPr>
              <a:t>Scenarios sourced from published ODP papers (2023–2026), each with scenario text, Competency Questions, and a ground-truth OWL ontology.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828800" cy="27432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5300" y="14447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Scenario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417320"/>
            <a:ext cx="4663440" cy="27432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69820" y="1444752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Domain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417320"/>
            <a:ext cx="868680" cy="27432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78980" y="144475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# CQs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17320"/>
            <a:ext cx="1234440" cy="27432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93379" y="144475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Year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417320"/>
            <a:ext cx="2286000" cy="27432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3540" y="144475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Unseen 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719072"/>
            <a:ext cx="11064240" cy="338328"/>
          </a:xfrm>
          <a:prstGeom prst="rect">
            <a:avLst/>
          </a:prstGeom>
          <a:solidFill>
            <a:srgbClr val="1A1D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300" y="1782572"/>
            <a:ext cx="17780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2023-133-01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9820" y="1782572"/>
            <a:ext cx="4612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Causal Bayesian Networks (Sprinkler)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8980" y="1782572"/>
            <a:ext cx="81788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3379" y="1782572"/>
            <a:ext cx="1183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</a:rPr>
              <a:t>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3540" y="1782572"/>
            <a:ext cx="22352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CAF7D"/>
                </a:solidFill>
              </a:rPr>
              <a:t>Likely Seen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11064240" cy="338328"/>
          </a:xfrm>
          <a:prstGeom prst="rect">
            <a:avLst/>
          </a:prstGeom>
          <a:solidFill>
            <a:srgbClr val="0F1117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300" y="2120900"/>
            <a:ext cx="17780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2023-133-02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69820" y="2120900"/>
            <a:ext cx="4612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Causal Bayesian Networks (Asthma)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8980" y="2120900"/>
            <a:ext cx="81788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3379" y="2120900"/>
            <a:ext cx="1183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</a:rPr>
              <a:t>2023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3540" y="2120900"/>
            <a:ext cx="22352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CAF7D"/>
                </a:solidFill>
              </a:rPr>
              <a:t>Likely Seen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395728"/>
            <a:ext cx="11064240" cy="338328"/>
          </a:xfrm>
          <a:prstGeom prst="rect">
            <a:avLst/>
          </a:prstGeom>
          <a:solidFill>
            <a:srgbClr val="1A1D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5300" y="2459228"/>
            <a:ext cx="17780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2023-134-01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69820" y="2459228"/>
            <a:ext cx="4612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Solid Data Governance — Data Request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78980" y="2459228"/>
            <a:ext cx="81788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3379" y="2459228"/>
            <a:ext cx="1183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</a:rPr>
              <a:t>2023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73540" y="2459228"/>
            <a:ext cx="22352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CAF7D"/>
                </a:solidFill>
              </a:rPr>
              <a:t>Likely Seen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734056"/>
            <a:ext cx="11064240" cy="338328"/>
          </a:xfrm>
          <a:prstGeom prst="rect">
            <a:avLst/>
          </a:prstGeom>
          <a:solidFill>
            <a:srgbClr val="0F1117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300" y="2797556"/>
            <a:ext cx="17780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2023-134-02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69820" y="2797556"/>
            <a:ext cx="4612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Solid Data Governance — Data 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78980" y="2797556"/>
            <a:ext cx="81788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93379" y="2797556"/>
            <a:ext cx="1183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</a:rPr>
              <a:t>2023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73540" y="2797556"/>
            <a:ext cx="22352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CAF7D"/>
                </a:solidFill>
              </a:rPr>
              <a:t>Likely Seen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072384"/>
            <a:ext cx="11064240" cy="338328"/>
          </a:xfrm>
          <a:prstGeom prst="rect">
            <a:avLst/>
          </a:prstGeom>
          <a:solidFill>
            <a:srgbClr val="1A1D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5300" y="3135884"/>
            <a:ext cx="17780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2023-134-03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69820" y="3135884"/>
            <a:ext cx="4612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Solid Data Governance — Data Registry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8980" y="3135884"/>
            <a:ext cx="81788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93379" y="3135884"/>
            <a:ext cx="1183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</a:rPr>
              <a:t>2023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73540" y="3135884"/>
            <a:ext cx="22352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CAF7D"/>
                </a:solidFill>
              </a:rPr>
              <a:t>Likely Seen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410712"/>
            <a:ext cx="11064240" cy="338328"/>
          </a:xfrm>
          <a:prstGeom prst="rect">
            <a:avLst/>
          </a:prstGeom>
          <a:solidFill>
            <a:srgbClr val="0F1117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300" y="3474212"/>
            <a:ext cx="17780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2023-135-01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69820" y="3474212"/>
            <a:ext cx="4612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Role-Dependent Names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78980" y="3474212"/>
            <a:ext cx="81788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93379" y="3474212"/>
            <a:ext cx="1183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</a:rPr>
              <a:t>2023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73540" y="3474212"/>
            <a:ext cx="22352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CAF7D"/>
                </a:solidFill>
              </a:rPr>
              <a:t>Likely Seen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749040"/>
            <a:ext cx="11064240" cy="338328"/>
          </a:xfrm>
          <a:prstGeom prst="rect">
            <a:avLst/>
          </a:prstGeom>
          <a:solidFill>
            <a:srgbClr val="1A1D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5300" y="3812540"/>
            <a:ext cx="17780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2024-145-01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69820" y="3812540"/>
            <a:ext cx="4612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Legal Information (Indian Courts)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78980" y="3812540"/>
            <a:ext cx="81788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93379" y="3812540"/>
            <a:ext cx="1183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</a:rPr>
              <a:t>2024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73540" y="3812540"/>
            <a:ext cx="22352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0C060"/>
                </a:solidFill>
              </a:rPr>
              <a:t>Borderline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087368"/>
            <a:ext cx="11064240" cy="338328"/>
          </a:xfrm>
          <a:prstGeom prst="rect">
            <a:avLst/>
          </a:prstGeom>
          <a:solidFill>
            <a:srgbClr val="0F1117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5300" y="4150868"/>
            <a:ext cx="17780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2025-147-01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69820" y="4150868"/>
            <a:ext cx="4612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Maritime Ships (AISHIP)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78980" y="4150868"/>
            <a:ext cx="81788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48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93379" y="4150868"/>
            <a:ext cx="1183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</a:rPr>
              <a:t>2025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73540" y="4150868"/>
            <a:ext cx="22352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6C6C"/>
                </a:solidFill>
              </a:rPr>
              <a:t>Plausible Unseen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425696"/>
            <a:ext cx="11064240" cy="338328"/>
          </a:xfrm>
          <a:prstGeom prst="rect">
            <a:avLst/>
          </a:prstGeom>
          <a:solidFill>
            <a:srgbClr val="1A1D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5300" y="4489196"/>
            <a:ext cx="17780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2025-153-01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69820" y="4489196"/>
            <a:ext cx="4612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Temporal Indirection (Finance)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78980" y="4489196"/>
            <a:ext cx="81788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93379" y="4489196"/>
            <a:ext cx="1183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</a:rPr>
              <a:t>2025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73540" y="4489196"/>
            <a:ext cx="22352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6C6C"/>
                </a:solidFill>
              </a:rPr>
              <a:t>Plausible Unseen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4764024"/>
            <a:ext cx="11064240" cy="338328"/>
          </a:xfrm>
          <a:prstGeom prst="rect">
            <a:avLst/>
          </a:prstGeom>
          <a:solidFill>
            <a:srgbClr val="0F1117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5300" y="4827524"/>
            <a:ext cx="17780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2025-149-01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369820" y="4827524"/>
            <a:ext cx="4612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DB Access Control (ARGOS)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78980" y="4827524"/>
            <a:ext cx="81788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25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93379" y="4827524"/>
            <a:ext cx="1183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</a:rPr>
              <a:t>2025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73540" y="4827524"/>
            <a:ext cx="22352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6C6C"/>
                </a:solidFill>
              </a:rPr>
              <a:t>Plausible Unseen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102352"/>
            <a:ext cx="11064240" cy="338328"/>
          </a:xfrm>
          <a:prstGeom prst="rect">
            <a:avLst/>
          </a:prstGeom>
          <a:solidFill>
            <a:srgbClr val="1A1D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95300" y="5165852"/>
            <a:ext cx="17780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2025-150-01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69820" y="5165852"/>
            <a:ext cx="4612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IoT / MQTT Protocol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78980" y="5165852"/>
            <a:ext cx="81788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32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93379" y="5165852"/>
            <a:ext cx="1183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</a:rPr>
              <a:t>2025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73540" y="5165852"/>
            <a:ext cx="22352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6C6C"/>
                </a:solidFill>
              </a:rPr>
              <a:t>Plausible Unseen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5440680"/>
            <a:ext cx="11064240" cy="338328"/>
          </a:xfrm>
          <a:prstGeom prst="rect">
            <a:avLst/>
          </a:prstGeom>
          <a:solidFill>
            <a:srgbClr val="0F1117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5300" y="5504180"/>
            <a:ext cx="17780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2025-151-01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69820" y="5504180"/>
            <a:ext cx="4612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Access Control — Eval. Request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78980" y="5504180"/>
            <a:ext cx="81788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93379" y="5504180"/>
            <a:ext cx="1183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</a:rPr>
              <a:t>2025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73540" y="5504180"/>
            <a:ext cx="22352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6C6C"/>
                </a:solidFill>
              </a:rPr>
              <a:t>Plausible Unseen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5779008"/>
            <a:ext cx="11064240" cy="338328"/>
          </a:xfrm>
          <a:prstGeom prst="rect">
            <a:avLst/>
          </a:prstGeom>
          <a:solidFill>
            <a:srgbClr val="1A1D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95300" y="5842508"/>
            <a:ext cx="17780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2025-151-02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369820" y="5842508"/>
            <a:ext cx="4612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State-of-World (ODRL Policy)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78980" y="5842508"/>
            <a:ext cx="81788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93379" y="5842508"/>
            <a:ext cx="1183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</a:rPr>
              <a:t>2025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273540" y="5842508"/>
            <a:ext cx="22352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6C6C"/>
                </a:solidFill>
              </a:rPr>
              <a:t>Plausible Unseen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6117336"/>
            <a:ext cx="11064240" cy="338328"/>
          </a:xfrm>
          <a:prstGeom prst="rect">
            <a:avLst/>
          </a:prstGeom>
          <a:solidFill>
            <a:srgbClr val="0F1117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95300" y="6180836"/>
            <a:ext cx="17780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2026-155-01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369820" y="6180836"/>
            <a:ext cx="4612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Cultural Heritage Survey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078980" y="6180836"/>
            <a:ext cx="81788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993379" y="6180836"/>
            <a:ext cx="118364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</a:rPr>
              <a:t>2026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273540" y="6180836"/>
            <a:ext cx="2235200" cy="2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6C6C"/>
                </a:solidFill>
              </a:rPr>
              <a:t>Plausible Unseen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" y="6400800"/>
            <a:ext cx="11247120" cy="347472"/>
          </a:xfrm>
          <a:prstGeom prst="rect">
            <a:avLst/>
          </a:prstGeom>
          <a:solidFill>
            <a:srgbClr val="1E180C"/>
          </a:solidFill>
          <a:ln w="25400">
            <a:solidFill>
              <a:srgbClr val="F0C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94360" y="6477000"/>
            <a:ext cx="10972800" cy="19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CQ range: 3 (Role-Dependent Names) to 47 (AISHIP Maritime). 9 of 14 scenarios plausible-unseen for all evaluated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02920" cy="32004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283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AB4F8"/>
                </a:solidFill>
              </a:rPr>
              <a:t>Worked Example — Scenario 2023-133-01: Causal Bayesian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270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5486400" cy="1874519"/>
          </a:xfrm>
          <a:prstGeom prst="rect">
            <a:avLst/>
          </a:prstGeom>
          <a:solidFill>
            <a:srgbClr val="080E1A"/>
          </a:solidFill>
          <a:ln w="1905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B4F8"/>
                </a:solidFill>
              </a:rPr>
              <a:t>Scenario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81328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Sprinkler use case (CBN). Five event nodes: rainy season, sprinkler on, raining, pavement wet, pavement slippery. Directed edges carry numeric effect weights (e.g., rainy season-&gt;rain = 0.6). Rain-&gt;slippery is mediated by wet pavement.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35808"/>
            <a:ext cx="5486400" cy="1508760"/>
          </a:xfrm>
          <a:prstGeom prst="rect">
            <a:avLst/>
          </a:prstGeom>
          <a:solidFill>
            <a:srgbClr val="080E1A"/>
          </a:solidFill>
          <a:ln w="1270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B4F8"/>
                </a:solidFill>
              </a:rPr>
              <a:t>4 Competency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0156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1. What events caused the pavement to be slippery?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216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2. Outcome of turning the sprinkler on/off?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4164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3. Strength of causal link: sprinkler -&gt; wet pavement?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6168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4. If pavement not wet, effect on slipperiness? (counterfactual)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90288"/>
            <a:ext cx="5486400" cy="1508760"/>
          </a:xfrm>
          <a:prstGeom prst="rect">
            <a:avLst/>
          </a:prstGeom>
          <a:solidFill>
            <a:srgbClr val="041208"/>
          </a:solidFill>
          <a:ln w="19050"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6817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</a:rPr>
              <a:t>Ground-Truth ODP (Expert-Authored)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5604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• 5 classes: Event, AbstractEvent, ConcreteEvent, Causes, EffectWeight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175504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• Causes is a CLASS (reification) -- not a property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39496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• hasTreatment, hasOutcome, hasMediator (all on Causes-&gt;Event)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61441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• hasEffectWeight (Causes-&gt;EffectWeight)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83387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AF0"/>
                </a:solidFill>
              </a:rPr>
              <a:t>• Abstract, reusable -- no domain-specific sprinkler/rain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1155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AB4F8"/>
                </a:solidFill>
              </a:rPr>
              <a:t>Generated Outputs — scenario-only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417320"/>
            <a:ext cx="5577840" cy="1828800"/>
          </a:xfrm>
          <a:prstGeom prst="rect">
            <a:avLst/>
          </a:prstGeom>
          <a:solidFill>
            <a:srgbClr val="080E1A"/>
          </a:solidFill>
          <a:ln w="12700">
            <a:solidFill>
              <a:srgbClr val="2A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4813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B4F8"/>
                </a:solidFill>
              </a:rPr>
              <a:t>Gemini 3.1 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14813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CAF7D"/>
                </a:solidFill>
              </a:rPr>
              <a:t>Parse: SUCCESS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783080"/>
            <a:ext cx="5349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3C8D8"/>
                </a:solidFill>
              </a:rPr>
              <a:t>:Event a owl:Class .
:CausalRelation a owl:Class ; owl:disjointWith :Event .
:RainySeasonEvent rdfs:subClassOf :Event .
:SprinklerOnEvent rdfs:subClassOf :Event .
:PavementWetEvent rdfs:subClassOf :Event .
:PavementSlipperyEvent rdfs:subClassOf :Event .
:hasSourceEvent, :hasTargetEvent, :isMediatedBy
  rdfs:domain :CausalRelation; rdfs:range :Event .
:hasEffectWeight a owl:DatatypeProperty; rdfs:range xsd:decimal 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907792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0C060"/>
                </a:solidFill>
              </a:rPr>
              <a:t>+ 5 domain-specific subclasses (scenario-grounded, not in GT)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246120"/>
            <a:ext cx="5577840" cy="1737360"/>
          </a:xfrm>
          <a:prstGeom prst="rect">
            <a:avLst/>
          </a:prstGeom>
          <a:solidFill>
            <a:srgbClr val="041208"/>
          </a:solidFill>
          <a:ln w="12700">
            <a:solidFill>
              <a:srgbClr val="1E5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3101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</a:rPr>
              <a:t>Llama-3.1-8B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3101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CAF7D"/>
                </a:solidFill>
              </a:rPr>
              <a:t>Parse: SUCCESS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611880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3C8D8"/>
                </a:solidFill>
              </a:rPr>
              <a:t>:WeatherEvent, :RainySeason, :SprinklerStatus
:SprinklerOn rdfs:subClassOf :SprinklerStatus
:Weather, :Rain rdfs:subClassOf :Weather
:PavementCondition
:PavementWet, :PavementSlippery
  rdfs:subClassOf :PavementCondition
:CausalRelation, :EffectWeight (DatatypeProperty)
-&gt; more domain-specific hierarchy; more superfluous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5047488"/>
            <a:ext cx="5577840" cy="1005840"/>
          </a:xfrm>
          <a:prstGeom prst="rect">
            <a:avLst/>
          </a:prstGeom>
          <a:solidFill>
            <a:srgbClr val="1E180C"/>
          </a:solidFill>
          <a:ln w="25400">
            <a:solidFill>
              <a:srgbClr val="F0C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5123688"/>
            <a:ext cx="5303520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Systematic finding: both models literalize the scenario into domain-specific class hierarchies. The expert ODP uses reification (Causes as class) for a domain-agnostic, reusable pattern. LLMs struggle to generate abstract patterns from narrative descriptions.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02920" cy="32004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283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AB4F8"/>
                </a:solidFill>
              </a:rPr>
              <a:t>Prompt Templates — Actual Text Sent to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270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2A4"/>
                </a:solidFill>
              </a:rPr>
              <a:t>All 5 configurations share the same OWL/Turtle output contract. They differ in what input they receive and what output structure they require.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00" cy="5212080"/>
          </a:xfrm>
          <a:prstGeom prst="rect">
            <a:avLst/>
          </a:prstGeom>
          <a:solidFill>
            <a:srgbClr val="1A1D2E"/>
          </a:solidFill>
          <a:ln w="1905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B4F8"/>
                </a:solidFill>
              </a:rPr>
              <a:t>Config 1 — scenario-only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3C8D8"/>
                </a:solidFill>
              </a:rPr>
              <a:t>You are an ontology engineer. Generate
an OWL ODP in Turtle syntax from the
scenario below.
Requirements:
- Stay strictly within scenario scope.
- Use clear, self-explanatory names.
- Include minimal but sufficient axioms.
- Declare every class with `a owl:Class`,
  every property with its OWL type.
- Do NOT create individual instances.
- Add rdfs:label + rdfs:comment to all.
- Declare owl:Ontology header.
@prefix owl: &lt;...owl#&gt; .
@prefix rdfs: &lt;...rdf-schema#&gt; .
@prefix : &lt;http://example.org/odp#&gt; .
Output -- in this order:
1. Turtle in ```turtle...``` block FIRST.
2. Intent . Requirements . Assumptions.
Scenario:
{{SCENARIO_TEXT}}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17320"/>
            <a:ext cx="5577840" cy="5212080"/>
          </a:xfrm>
          <a:prstGeom prst="rect">
            <a:avLst/>
          </a:prstGeom>
          <a:solidFill>
            <a:srgbClr val="1A1D2E"/>
          </a:solidFill>
          <a:ln w="19050"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</a:rPr>
              <a:t>Config 5 — scenario-cq-reasoning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828800"/>
            <a:ext cx="5349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3C8D8"/>
                </a:solidFill>
              </a:rPr>
              <a:t>You are an ontology engineer. Create
an OWL ODP in Turtle syntax.
Before writing, reason through these
steps internally (do NOT write yet):
1. Extract atomic requirements.
2. Propose candidate classes/properties.
3. Draft axioms (subclass, domain, range).
4. Verify each CQ is answered by axioms.
5. Refine axioms to cover uncovered CQs.
6. Remove entities not traceable to reqs/CQs.
Constraints:
- schema axioms only; no instances
- rdfs:label + rdfs:comment mandatory
- owl:Ontology header mandatory
- minimal, reusable; no extra facts
Output -- in this order:
1. Turtle in ```turtle...``` block FIRST.
2. Reasoning summary: 1 bullet/step.
3. Traceability: req/CQ -&gt; axiom(s).
Scenario: {{SCENARIO_TEXT}}
CQs: {{CQ_LIST}}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02920" cy="32004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283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AB4F8"/>
                </a:solidFill>
              </a:rPr>
              <a:t>Models Evaluated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270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74519" cy="30175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1143000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B4F8"/>
                </a:solidFill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115568"/>
            <a:ext cx="2423160" cy="30175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8240" y="114300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B4F8"/>
                </a:solidFill>
              </a:rPr>
              <a:t>Provider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115568"/>
            <a:ext cx="1508760" cy="30175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7120" y="114300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B4F8"/>
                </a:solidFill>
              </a:rPr>
              <a:t>Parameters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115568"/>
            <a:ext cx="1965960" cy="30175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1600" y="114300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B4F8"/>
                </a:solidFill>
              </a:rPr>
              <a:t>Training Cutoff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115568"/>
            <a:ext cx="1371600" cy="30175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3280" y="11430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B4F8"/>
                </a:solidFill>
              </a:rPr>
              <a:t>Parse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44752"/>
            <a:ext cx="9829800" cy="658368"/>
          </a:xfrm>
          <a:prstGeom prst="rect">
            <a:avLst/>
          </a:prstGeom>
          <a:solidFill>
            <a:srgbClr val="090C11"/>
          </a:solidFill>
          <a:ln w="12700">
            <a:solidFill>
              <a:srgbClr val="22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400" y="1571752"/>
            <a:ext cx="17983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B4F8"/>
                </a:solidFill>
              </a:rPr>
              <a:t>Gemini 3.1 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3640" y="1571752"/>
            <a:ext cx="234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Google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22520" y="1571752"/>
            <a:ext cx="143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Proprietary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1571752"/>
            <a:ext cx="188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~2025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8680" y="1571752"/>
            <a:ext cx="1295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</a:rPr>
              <a:t>100.0%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48840"/>
            <a:ext cx="9829800" cy="658368"/>
          </a:xfrm>
          <a:prstGeom prst="rect">
            <a:avLst/>
          </a:prstGeom>
          <a:solidFill>
            <a:srgbClr val="050C08"/>
          </a:solidFill>
          <a:ln w="12700">
            <a:solidFill>
              <a:srgbClr val="13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400" y="2275840"/>
            <a:ext cx="17983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</a:rPr>
              <a:t>Llama-3.1-8B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3640" y="2275840"/>
            <a:ext cx="234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Meta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22520" y="2275840"/>
            <a:ext cx="143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8B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0" y="2275840"/>
            <a:ext cx="188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Dec 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8680" y="2275840"/>
            <a:ext cx="1295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</a:rPr>
              <a:t>75.7%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852928"/>
            <a:ext cx="9829800" cy="658368"/>
          </a:xfrm>
          <a:prstGeom prst="rect">
            <a:avLst/>
          </a:prstGeom>
          <a:solidFill>
            <a:srgbClr val="110D06"/>
          </a:solidFill>
          <a:ln w="12700">
            <a:solidFill>
              <a:srgbClr val="3C3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3400" y="2979928"/>
            <a:ext cx="17983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60"/>
                </a:solidFill>
              </a:rPr>
              <a:t>Llama-2-70B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53640" y="2979928"/>
            <a:ext cx="234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Meta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22520" y="2979928"/>
            <a:ext cx="143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70B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0" y="2979928"/>
            <a:ext cx="188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Sep 2022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8680" y="2979928"/>
            <a:ext cx="1295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60"/>
                </a:solidFill>
              </a:rPr>
              <a:t>65.7%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557016"/>
            <a:ext cx="9829800" cy="658368"/>
          </a:xfrm>
          <a:prstGeom prst="rect">
            <a:avLst/>
          </a:prstGeom>
          <a:solidFill>
            <a:srgbClr val="110D06"/>
          </a:solidFill>
          <a:ln w="12700">
            <a:solidFill>
              <a:srgbClr val="3C3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3400" y="3684016"/>
            <a:ext cx="17983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60"/>
                </a:solidFill>
              </a:rPr>
              <a:t>Mistral-7B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53640" y="3684016"/>
            <a:ext cx="234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Mistral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2520" y="3684016"/>
            <a:ext cx="143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7B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0" y="3684016"/>
            <a:ext cx="188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~2023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8680" y="3684016"/>
            <a:ext cx="1295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60"/>
                </a:solidFill>
              </a:rPr>
              <a:t>41.4%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261104"/>
            <a:ext cx="9829800" cy="658368"/>
          </a:xfrm>
          <a:prstGeom prst="rect">
            <a:avLst/>
          </a:prstGeom>
          <a:solidFill>
            <a:srgbClr val="0C0B0F"/>
          </a:solidFill>
          <a:ln w="12700">
            <a:solidFill>
              <a:srgbClr val="2C2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3400" y="4388104"/>
            <a:ext cx="17983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39DDB"/>
                </a:solidFill>
              </a:rPr>
              <a:t>GPT-5.4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53640" y="4388104"/>
            <a:ext cx="234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OpenAI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22520" y="4388104"/>
            <a:ext cx="143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Proprietary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0" y="4388104"/>
            <a:ext cx="188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~2024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8680" y="4388104"/>
            <a:ext cx="1295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60"/>
                </a:solidFill>
              </a:rPr>
              <a:t>37.1%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965192"/>
            <a:ext cx="9829800" cy="658368"/>
          </a:xfrm>
          <a:prstGeom prst="rect">
            <a:avLst/>
          </a:prstGeom>
          <a:solidFill>
            <a:srgbClr val="100707"/>
          </a:solidFill>
          <a:ln w="12700">
            <a:solidFill>
              <a:srgbClr val="38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3400" y="5092192"/>
            <a:ext cx="17983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6C6C"/>
                </a:solidFill>
              </a:rPr>
              <a:t>BLOOMZ-7B1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53640" y="5092192"/>
            <a:ext cx="234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BigScience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22520" y="5092192"/>
            <a:ext cx="143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7B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7000" y="5092192"/>
            <a:ext cx="188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Jul 2022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8680" y="5092192"/>
            <a:ext cx="1295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6C6C"/>
                </a:solidFill>
              </a:rPr>
              <a:t>0.0%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6400800"/>
            <a:ext cx="11247120" cy="347472"/>
          </a:xfrm>
          <a:prstGeom prst="rect">
            <a:avLst/>
          </a:prstGeom>
          <a:solidFill>
            <a:srgbClr val="0D1117"/>
          </a:solidFill>
          <a:ln w="2540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6477000"/>
            <a:ext cx="10972800" cy="19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Temperature=0.0 for all runs. Open-source: HuggingFace Transformers. GPT-5.4: OpenAI API. Gemini: Google GenAI SDK.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02920" cy="32004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283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AB4F8"/>
                </a:solidFill>
              </a:rPr>
              <a:t>Prompting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270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3566160" cy="1920240"/>
          </a:xfrm>
          <a:prstGeom prst="rect">
            <a:avLst/>
          </a:prstGeom>
          <a:solidFill>
            <a:srgbClr val="1A1D2E"/>
          </a:solidFill>
          <a:ln w="190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1204468"/>
            <a:ext cx="341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B4F8"/>
                </a:solidFill>
              </a:rPr>
              <a:t>1. scenario-only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463040"/>
            <a:ext cx="3413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Only scenario text — no CQs
• Model infers scope from narrative
• Highest scenario vocabulary coverage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15568"/>
            <a:ext cx="3566160" cy="1920240"/>
          </a:xfrm>
          <a:prstGeom prst="rect">
            <a:avLst/>
          </a:prstGeom>
          <a:solidFill>
            <a:srgbClr val="1A1D2E"/>
          </a:solidFill>
          <a:ln w="190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36720" y="1204468"/>
            <a:ext cx="341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B4F8"/>
                </a:solidFill>
              </a:rPr>
              <a:t>2. cq-only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6720" y="1463040"/>
            <a:ext cx="3413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Only Competency Questions provided
• Highest CQ coverage (0.858 avg)
• Also highest hallucination (0.586)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115568"/>
            <a:ext cx="3840480" cy="1920240"/>
          </a:xfrm>
          <a:prstGeom prst="rect">
            <a:avLst/>
          </a:prstGeom>
          <a:solidFill>
            <a:srgbClr val="1A1D2E"/>
          </a:solidFill>
          <a:ln w="190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0040" y="1204468"/>
            <a:ext cx="3688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</a:rPr>
              <a:t>3. scenario-cq  [Balanced]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0040" y="1463040"/>
            <a:ext cx="3688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Both scenario + CQs
• Requires scenario→axiom &amp; CQ→axiom mapping
• Good balance of CQ + scenario coverage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82112"/>
            <a:ext cx="5394960" cy="1920240"/>
          </a:xfrm>
          <a:prstGeom prst="rect">
            <a:avLst/>
          </a:prstGeom>
          <a:solidFill>
            <a:srgbClr val="1A1D2E"/>
          </a:solidFill>
          <a:ln w="190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400" y="3271012"/>
            <a:ext cx="524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C060"/>
                </a:solidFill>
              </a:rPr>
              <a:t>4. scenario-cq-constraints  [Validation]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3529584"/>
            <a:ext cx="5242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Adds 6-item self-validation checklist
• Syntax, domain/range, coherence, scope checks
• Lower parse rate — extra text confuses parsers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3182112"/>
            <a:ext cx="5715000" cy="1920240"/>
          </a:xfrm>
          <a:prstGeom prst="rect">
            <a:avLst/>
          </a:prstGeom>
          <a:solidFill>
            <a:srgbClr val="1A1D2E"/>
          </a:solidFill>
          <a:ln w="190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5520" y="3271012"/>
            <a:ext cx="5562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</a:rPr>
              <a:t>5. scenario-cq-reasoning  [Faithfulness]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5520" y="3529584"/>
            <a:ext cx="5562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6-step reasoning: extract → propose → draft → verify → remove → output
• Lowest hallucination overall
• Best scenario coverage among CQ-aware configs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57800"/>
            <a:ext cx="11247120" cy="475488"/>
          </a:xfrm>
          <a:prstGeom prst="rect">
            <a:avLst/>
          </a:prstGeom>
          <a:solidFill>
            <a:srgbClr val="0D1117"/>
          </a:solidFill>
          <a:ln w="2540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334000"/>
            <a:ext cx="10972800" cy="32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All prompts use @prefix owl/rdf/rdfs/xsd and require owl:Ontology with rdfs:label and rdfs:comment.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02920" cy="32004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283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AB4F8"/>
                </a:solidFill>
              </a:rPr>
              <a:t>Evaluation Methodology — 4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270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5577840" cy="2468880"/>
          </a:xfrm>
          <a:prstGeom prst="rect">
            <a:avLst/>
          </a:prstGeom>
          <a:solidFill>
            <a:srgbClr val="1A1D2E"/>
          </a:solidFill>
          <a:ln w="19050">
            <a:solidFill>
              <a:srgbClr val="242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1204468"/>
            <a:ext cx="542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8EBF"/>
                </a:solidFill>
              </a:rPr>
              <a:t>Layer 1 — Formal / Syntactic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463040"/>
            <a:ext cx="5425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parse_success — Valid Turtle syntax?
• triple_count — Total RDF triples
• ontology_declared — owl:Ontology header?
• label_coverage_ratio — all entities with rdfs:label
• class_label_ratio [NEW] — owl:Class entities with rdfs:label
• property_label_ratio [NEW] — Properties with rdfs:label
• comment_coverage_ratio, domain_range_ratio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115568"/>
            <a:ext cx="5577840" cy="2468880"/>
          </a:xfrm>
          <a:prstGeom prst="rect">
            <a:avLst/>
          </a:prstGeom>
          <a:solidFill>
            <a:srgbClr val="1A1D2E"/>
          </a:solidFill>
          <a:ln w="19050">
            <a:solidFill>
              <a:srgbClr val="193A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1280" y="1204468"/>
            <a:ext cx="542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</a:rPr>
              <a:t>Layer 2 — Scenario Faithfulness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1280" y="1463040"/>
            <a:ext cx="5425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cq_coverage_ratio — CQs answerable (token overlap)
• cq_mean_token_recall — avg recall per CQ
• scenario_coverage_ratio — scenario vocab in ontology
• hallucination_ratio — unsupported vocab fraction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21608"/>
            <a:ext cx="5577840" cy="2468880"/>
          </a:xfrm>
          <a:prstGeom prst="rect">
            <a:avLst/>
          </a:prstGeom>
          <a:solidFill>
            <a:srgbClr val="1A1D2E"/>
          </a:solidFill>
          <a:ln w="19050">
            <a:solidFill>
              <a:srgbClr val="50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400" y="3810508"/>
            <a:ext cx="542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C060"/>
                </a:solidFill>
              </a:rPr>
              <a:t>Layer 3 — Semantic Similarity vs Ground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4069080"/>
            <a:ext cx="5425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class_name_F1 — name match vs ground-truth classes
• property_name_F1 — same for properties
• combined_f1 — macro avg F1
• matched_class_names — classes in both generated &amp; GT
• matched_property_names — properties in both; e.g. 'event', 'has effect'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3721608"/>
            <a:ext cx="5577840" cy="2468880"/>
          </a:xfrm>
          <a:prstGeom prst="rect">
            <a:avLst/>
          </a:prstGeom>
          <a:solidFill>
            <a:srgbClr val="1A1D2E"/>
          </a:solidFill>
          <a:ln w="19050">
            <a:solidFill>
              <a:srgbClr val="3B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1280" y="3810508"/>
            <a:ext cx="542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39DDB"/>
                </a:solidFill>
              </a:rPr>
              <a:t>Layer 4 — Feasibility &amp; Unseen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1280" y="4069080"/>
            <a:ext cx="5425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Each (model, ODP) labelled plausible_unseen or likely_seen
• Compares ODP pub date vs model training cutoff
• Confidence: high / medium / low
• Future: human eval — Correctness, Completeness, Clarity (1–5)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00800"/>
            <a:ext cx="11247120" cy="347472"/>
          </a:xfrm>
          <a:prstGeom prst="rect">
            <a:avLst/>
          </a:prstGeom>
          <a:solidFill>
            <a:srgbClr val="0D1117"/>
          </a:solidFill>
          <a:ln w="2540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477000"/>
            <a:ext cx="10972800" cy="19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Pipeline → results/summary.csv  (420 rows × 44 columns, incl. class_label_ratio &amp; property_label_ratio)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02920" cy="32004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283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AB4F8"/>
                </a:solidFill>
              </a:rPr>
              <a:t>Raw Output Examples — Scenario 2023-133-01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270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2A4"/>
                </a:solidFill>
              </a:rPr>
              <a:t>Scenario: "Model a causal Bayesian network over events with weighted causal edges as an ODP."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3840480" cy="2240280"/>
          </a:xfrm>
          <a:prstGeom prst="rect">
            <a:avLst/>
          </a:prstGeom>
          <a:solidFill>
            <a:srgbClr val="0B0F14"/>
          </a:solidFill>
          <a:ln w="12700">
            <a:solidFill>
              <a:srgbClr val="22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1557528"/>
            <a:ext cx="307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B4F8"/>
                </a:solidFill>
              </a:rPr>
              <a:t>Gemini 3.1 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582928"/>
            <a:ext cx="804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CAF7D"/>
                </a:solidFill>
              </a:rPr>
              <a:t>SUCCESS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0700" y="1828800"/>
            <a:ext cx="3713480" cy="150876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8800" y="1856232"/>
            <a:ext cx="3637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3C8D8"/>
                </a:solidFill>
              </a:rPr>
              <a:t>@prefix owl:  &lt;http://www.w3.org/2002/07/owl#&gt; . ↩ @prefix rdf:  &lt;http://www.w3.org/1999/02/22-rdf-syntax-ns#&gt; . ↩ @prefix rdfs: &lt;http://www.w3.org/2000/01/rdf-schema#&gt; . ↩ @prefix xsd:  &lt;http://www.w3.org/2001/XMLSchema#&gt; . ↩ @prefix :     &lt;http://example.org/odp#&gt; . ↩  ↩ :Ontology a owl:Ontology ; ↩     rdfs:label "Causal Bayesian Network (CBN) Sprinkler Ontol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53128" y="1481328"/>
            <a:ext cx="3840480" cy="2240280"/>
          </a:xfrm>
          <a:prstGeom prst="rect">
            <a:avLst/>
          </a:prstGeom>
          <a:solidFill>
            <a:srgbClr val="060E0A"/>
          </a:solidFill>
          <a:ln w="12700">
            <a:solidFill>
              <a:srgbClr val="13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9328" y="1557528"/>
            <a:ext cx="307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</a:rPr>
              <a:t>Llama-3.1-8B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8" y="1582928"/>
            <a:ext cx="804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CAF7D"/>
                </a:solidFill>
              </a:rPr>
              <a:t>SUCCESS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16628" y="1828800"/>
            <a:ext cx="3713480" cy="150876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4728" y="1856232"/>
            <a:ext cx="3637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3C8D8"/>
                </a:solidFill>
              </a:rPr>
              <a:t>@prefix owl:  &lt;http://www.w3.org/2002/07/owl#&gt;. ↩ @prefix rdf:  &lt;http://www.w3.org/1999/02/22-rdf-syntax-ns#&gt;. ↩ @prefix rdfs: &lt;http://www.w3.org/2000/01/rdf-schema#&gt;. ↩ @prefix xsd:  &lt;http://www.w3.org/2001/XMLSchema#&gt;. ↩ @prefix :     &lt;http://example.org/odp#&gt;. ↩  ↩ :Ontology a owl:Ontology ; ↩   rdfs:label "Sprinkler Use Case Ontology" ; ↩   rdfs:comment "Reaso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49056" y="1481328"/>
            <a:ext cx="3840480" cy="2240280"/>
          </a:xfrm>
          <a:prstGeom prst="rect">
            <a:avLst/>
          </a:prstGeom>
          <a:solidFill>
            <a:srgbClr val="141008"/>
          </a:solidFill>
          <a:ln w="12700">
            <a:solidFill>
              <a:srgbClr val="3C3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5256" y="1557528"/>
            <a:ext cx="307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C060"/>
                </a:solidFill>
              </a:rPr>
              <a:t>Llama-2-70B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20856" y="1582928"/>
            <a:ext cx="804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CAF7D"/>
                </a:solidFill>
              </a:rPr>
              <a:t>SUCCESS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12556" y="1828800"/>
            <a:ext cx="3713480" cy="150876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50656" y="1856232"/>
            <a:ext cx="3637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3C8D8"/>
                </a:solidFill>
              </a:rPr>
              <a:t>Turtle Ontology: ↩ @prefix owl:  &lt;http://www.w3.org/2002/07/owl#&gt;. ↩ @prefix rdf:  &lt;http://www.w3.org/1999/02/22-rdf-syntax-ns#&gt;. ↩ @prefix rdfs: &lt;http://www.w3.org/2000/01/rdf-schema#&gt;. ↩ @prefix xsd:  &lt;http://www.w3.org/2001/XMLSchema#&gt;. ↩ @prefix :     &lt;http://example.org/odp#&gt;. ↩  ↩ :Ontology a owl:Ontology ; ↩ rdfs:label "Sprinkler Use Case Ontology" ; ↩ rdfs:c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58768"/>
            <a:ext cx="3840480" cy="2240280"/>
          </a:xfrm>
          <a:prstGeom prst="rect">
            <a:avLst/>
          </a:prstGeom>
          <a:solidFill>
            <a:srgbClr val="141008"/>
          </a:solidFill>
          <a:ln w="12700">
            <a:solidFill>
              <a:srgbClr val="3C3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400" y="3934968"/>
            <a:ext cx="307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C060"/>
                </a:solidFill>
              </a:rPr>
              <a:t>Mistral-7B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3960368"/>
            <a:ext cx="804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CAF7D"/>
                </a:solidFill>
              </a:rPr>
              <a:t>SUCCESS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0700" y="4206240"/>
            <a:ext cx="3713480" cy="150876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8800" y="4233672"/>
            <a:ext cx="3637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3C8D8"/>
                </a:solidFill>
              </a:rPr>
              <a:t>1. :Ontology a owl:Ontology ; ↩   rdfs:label "Sprinkler Use Case Ontology" ; ↩   rdfs:comment "An ontology for the sprinkler use case, modeling events and causal relationships.". ↩  ↩ :Event a owl:Class ; ↩   rdfs:label "Event" ; ↩   rdfs:comment "A general event in the scenario.". ↩  ↩ :RainySeason a :Event ; ↩   rdfs:label "Rainy Season" ; ↩   rdfs:comment "The even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53128" y="3858768"/>
            <a:ext cx="3840480" cy="2240280"/>
          </a:xfrm>
          <a:prstGeom prst="rect">
            <a:avLst/>
          </a:prstGeom>
          <a:solidFill>
            <a:srgbClr val="0E0D12"/>
          </a:solidFill>
          <a:ln w="12700">
            <a:solidFill>
              <a:srgbClr val="2C2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9328" y="3934968"/>
            <a:ext cx="307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39DDB"/>
                </a:solidFill>
              </a:rPr>
              <a:t>GPT-5.4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928" y="3960368"/>
            <a:ext cx="804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CAF7D"/>
                </a:solidFill>
              </a:rPr>
              <a:t>SUCCESS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16628" y="4206240"/>
            <a:ext cx="3713480" cy="150876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4728" y="4233672"/>
            <a:ext cx="3637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3C8D8"/>
                </a:solidFill>
              </a:rPr>
              <a:t>@prefix owl:  &lt;http://www.w3.org/2002/07/owl#&gt; . ↩ @prefix rdf:  &lt;http://www.w3.org/1999/02/22-rdf-syntax-ndf-syntax-ns#&gt; . ↩ @prefix rdfs: &lt;http://www.w3.org/2000/01/rdf-schema#&gt; . ↩ @prefix xsd:  &lt;http://www.w3.org/2001/XMLSchema#&gt; . ↩ @prefix :     &lt;http://example.org/odp#&gt; . ↩  ↩ :Ontology a owl:Ontology ; ↩     rdfs:label "Sprinkler Causal Bayesian Network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49056" y="3858768"/>
            <a:ext cx="3840480" cy="2240280"/>
          </a:xfrm>
          <a:prstGeom prst="rect">
            <a:avLst/>
          </a:prstGeom>
          <a:solidFill>
            <a:srgbClr val="120909"/>
          </a:solidFill>
          <a:ln w="12700">
            <a:solidFill>
              <a:srgbClr val="38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25256" y="3934968"/>
            <a:ext cx="307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6C6C"/>
                </a:solidFill>
              </a:rPr>
              <a:t>BLOOMZ-7B1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20856" y="3960368"/>
            <a:ext cx="804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06C6C"/>
                </a:solidFill>
              </a:rPr>
              <a:t>FAIL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12556" y="4206240"/>
            <a:ext cx="3713480" cy="150876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50656" y="4233672"/>
            <a:ext cx="3637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3C8D8"/>
                </a:solidFill>
              </a:rPr>
              <a:t>- What if the pavement is wet, how would it effect the pavement being slippery?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02920" cy="32004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283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AB4F8"/>
                </a:solidFill>
              </a:rPr>
              <a:t>Results — Parse Success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270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2A4"/>
                </a:solidFill>
              </a:rPr>
              <a:t>Parse success is the primary gate metric. Total: 420 runs.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AB4F8"/>
                </a:solidFill>
              </a:rPr>
              <a:t>By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754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8EAF0"/>
                </a:solidFill>
              </a:rPr>
              <a:t>Gemini 3.1 Pro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737360"/>
            <a:ext cx="5303520" cy="41148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51760" y="1737360"/>
            <a:ext cx="5303520" cy="411480"/>
          </a:xfrm>
          <a:prstGeom prst="rect">
            <a:avLst/>
          </a:prstGeom>
          <a:solidFill>
            <a:srgbClr val="4CAF7D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6080" y="17754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EAF0"/>
                </a:solidFill>
              </a:rPr>
              <a:t>100.0%  (70/70)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423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8EAF0"/>
                </a:solidFill>
              </a:rPr>
              <a:t>Llama-3.1-8B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2304288"/>
            <a:ext cx="5303520" cy="41148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51760" y="2304288"/>
            <a:ext cx="4015522" cy="411480"/>
          </a:xfrm>
          <a:prstGeom prst="rect">
            <a:avLst/>
          </a:prstGeom>
          <a:solidFill>
            <a:srgbClr val="4CAF7D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8082" y="23423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EAF0"/>
                </a:solidFill>
              </a:rPr>
              <a:t>75.7%  (53/70)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09316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8EAF0"/>
                </a:solidFill>
              </a:rPr>
              <a:t>Llama-2-70B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871216"/>
            <a:ext cx="5303520" cy="41148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51760" y="2871216"/>
            <a:ext cx="3485170" cy="411480"/>
          </a:xfrm>
          <a:prstGeom prst="rect">
            <a:avLst/>
          </a:prstGeom>
          <a:solidFill>
            <a:srgbClr val="F0C06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7730" y="290931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EAF0"/>
                </a:solidFill>
              </a:rPr>
              <a:t>65.7%  (46/70)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7624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8EAF0"/>
                </a:solidFill>
              </a:rPr>
              <a:t>Mistral-7B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3438144"/>
            <a:ext cx="5303520" cy="41148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51760" y="3438144"/>
            <a:ext cx="2197172" cy="411480"/>
          </a:xfrm>
          <a:prstGeom prst="rect">
            <a:avLst/>
          </a:prstGeom>
          <a:solidFill>
            <a:srgbClr val="F0C06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9732" y="347624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EAF0"/>
                </a:solidFill>
              </a:rPr>
              <a:t>41.4%  (29/70)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04317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8EAF0"/>
                </a:solidFill>
              </a:rPr>
              <a:t>GPT-5.4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4005072"/>
            <a:ext cx="5303520" cy="41148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51760" y="4005072"/>
            <a:ext cx="1969878" cy="411480"/>
          </a:xfrm>
          <a:prstGeom prst="rect">
            <a:avLst/>
          </a:prstGeom>
          <a:solidFill>
            <a:srgbClr val="F0C06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2438" y="40431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EAF0"/>
                </a:solidFill>
              </a:rPr>
              <a:t>37.1%  (26/70)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101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8EAF0"/>
                </a:solidFill>
              </a:rPr>
              <a:t>BLOOMZ-7B1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4572000"/>
            <a:ext cx="5303520" cy="41148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51760" y="4572000"/>
            <a:ext cx="53035" cy="411480"/>
          </a:xfrm>
          <a:prstGeom prst="rect">
            <a:avLst/>
          </a:prstGeom>
          <a:solidFill>
            <a:srgbClr val="E06C6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55595" y="46101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EAF0"/>
                </a:solidFill>
              </a:rPr>
              <a:t>0.0%  (0/70)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417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AB4F8"/>
                </a:solidFill>
              </a:rPr>
              <a:t>By Configuration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7754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8EAF0"/>
                </a:solidFill>
              </a:rPr>
              <a:t>cq-only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1737360"/>
            <a:ext cx="5303520" cy="41148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95360" y="1737360"/>
            <a:ext cx="3535680" cy="411480"/>
          </a:xfrm>
          <a:prstGeom prst="rect">
            <a:avLst/>
          </a:prstGeom>
          <a:solidFill>
            <a:srgbClr val="8AB4F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181840" y="17754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EAF0"/>
                </a:solidFill>
              </a:rPr>
              <a:t>66.7%  (56/84)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3423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8EAF0"/>
                </a:solidFill>
              </a:rPr>
              <a:t>scenario-cq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60" y="2304288"/>
            <a:ext cx="5303520" cy="41148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95360" y="2304288"/>
            <a:ext cx="2967445" cy="411480"/>
          </a:xfrm>
          <a:prstGeom prst="rect">
            <a:avLst/>
          </a:prstGeom>
          <a:solidFill>
            <a:srgbClr val="8AB4F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13605" y="23423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EAF0"/>
                </a:solidFill>
              </a:rPr>
              <a:t>56.0%  (47/84)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909316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8EAF0"/>
                </a:solidFill>
              </a:rPr>
              <a:t>scenario-cq-constraints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871216"/>
            <a:ext cx="5303520" cy="41148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95360" y="2871216"/>
            <a:ext cx="2146662" cy="411480"/>
          </a:xfrm>
          <a:prstGeom prst="rect">
            <a:avLst/>
          </a:prstGeom>
          <a:solidFill>
            <a:srgbClr val="8AB4F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92822" y="290931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EAF0"/>
                </a:solidFill>
              </a:rPr>
              <a:t>40.5%  (34/84)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47624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8EAF0"/>
                </a:solidFill>
              </a:rPr>
              <a:t>scenario-cq-reasoning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95360" y="3438144"/>
            <a:ext cx="5303520" cy="41148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595360" y="3438144"/>
            <a:ext cx="2336074" cy="411480"/>
          </a:xfrm>
          <a:prstGeom prst="rect">
            <a:avLst/>
          </a:prstGeom>
          <a:solidFill>
            <a:srgbClr val="8AB4F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82234" y="347624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EAF0"/>
                </a:solidFill>
              </a:rPr>
              <a:t>44.0%  (37/84)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04317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8EAF0"/>
                </a:solidFill>
              </a:rPr>
              <a:t>scenario-only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95360" y="4005072"/>
            <a:ext cx="5303520" cy="41148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95360" y="4005072"/>
            <a:ext cx="3156857" cy="411480"/>
          </a:xfrm>
          <a:prstGeom prst="rect">
            <a:avLst/>
          </a:prstGeom>
          <a:solidFill>
            <a:srgbClr val="8AB4F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803017" y="40431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EAF0"/>
                </a:solidFill>
              </a:rPr>
              <a:t>59.5%  (50/84)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897880"/>
            <a:ext cx="11247120" cy="475488"/>
          </a:xfrm>
          <a:prstGeom prst="rect">
            <a:avLst/>
          </a:prstGeom>
          <a:solidFill>
            <a:srgbClr val="09150F"/>
          </a:solidFill>
          <a:ln w="25400"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5974080"/>
            <a:ext cx="10972800" cy="32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Gemini 3.1 Pro: 100% parse success across ALL configs — the only model to achieve this. GPT-5.4: 86% on cq-only but 0% on reasoning/constraints.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02920" cy="32004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283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AB4F8"/>
                </a:solidFill>
              </a:rPr>
              <a:t>Results — Quality Metrics (Successful Parses)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270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Metrics computed only when parse_success=True.  420 runs × 44 metrics.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405890" cy="27432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5300" y="1444752"/>
            <a:ext cx="140589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1863090" y="1417320"/>
            <a:ext cx="1405890" cy="27432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01190" y="1444752"/>
            <a:ext cx="140589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Parse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8980" y="1417320"/>
            <a:ext cx="1405890" cy="27432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7080" y="1444752"/>
            <a:ext cx="140589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CQ Cov.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74870" y="1417320"/>
            <a:ext cx="1405890" cy="27432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2970" y="1444752"/>
            <a:ext cx="140589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Scen. Cov.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417320"/>
            <a:ext cx="1405890" cy="27432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18860" y="1444752"/>
            <a:ext cx="140589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Halluc.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86650" y="1417320"/>
            <a:ext cx="1405890" cy="27432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4750" y="1444752"/>
            <a:ext cx="140589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Cls Lbl★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92540" y="1417320"/>
            <a:ext cx="1405890" cy="27432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30640" y="1444752"/>
            <a:ext cx="140589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Prop Lbl★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98430" y="1417320"/>
            <a:ext cx="1405890" cy="27432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6530" y="1444752"/>
            <a:ext cx="140589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F1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19072"/>
            <a:ext cx="11247120" cy="448056"/>
          </a:xfrm>
          <a:prstGeom prst="rect">
            <a:avLst/>
          </a:prstGeom>
          <a:solidFill>
            <a:srgbClr val="090C11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300" y="1795272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B4F8"/>
                </a:solidFill>
              </a:rPr>
              <a:t>Gemini 3.1 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01190" y="1795272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AF7D"/>
                </a:solidFill>
              </a:rPr>
              <a:t>100.0%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07080" y="1795272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7D"/>
                </a:solidFill>
              </a:rPr>
              <a:t>0.821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2970" y="1795272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7D"/>
                </a:solidFill>
              </a:rPr>
              <a:t>0.436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18860" y="1795272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6C6C"/>
                </a:solidFill>
              </a:rPr>
              <a:t>0.623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4750" y="1795272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1.000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30640" y="1795272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7D"/>
                </a:solidFill>
              </a:rPr>
              <a:t>0.914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6530" y="1795272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7D"/>
                </a:solidFill>
              </a:rPr>
              <a:t>0.125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194560"/>
            <a:ext cx="11247120" cy="448056"/>
          </a:xfrm>
          <a:prstGeom prst="rect">
            <a:avLst/>
          </a:prstGeom>
          <a:solidFill>
            <a:srgbClr val="050C0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5300" y="2270760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AF7D"/>
                </a:solidFill>
              </a:rPr>
              <a:t>Llama-3.1-8B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01190" y="2270760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AF7D"/>
                </a:solidFill>
              </a:rPr>
              <a:t>75.7%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07080" y="2270760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0.729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12970" y="2270760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0.335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18860" y="2270760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7D"/>
                </a:solidFill>
              </a:rPr>
              <a:t>0.345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4750" y="2270760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1.000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0640" y="2270760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0.830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6530" y="2270760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0.071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670048"/>
            <a:ext cx="11247120" cy="448056"/>
          </a:xfrm>
          <a:prstGeom prst="rect">
            <a:avLst/>
          </a:prstGeom>
          <a:solidFill>
            <a:srgbClr val="110D0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5300" y="2746248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60"/>
                </a:solidFill>
              </a:rPr>
              <a:t>Llama-2-70B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01190" y="2746248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60"/>
                </a:solidFill>
              </a:rPr>
              <a:t>65.7%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07080" y="2746248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0.689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12970" y="2746248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6C6C"/>
                </a:solidFill>
              </a:rPr>
              <a:t>0.258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18860" y="2746248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0.489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24750" y="2746248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1.000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30640" y="2746248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6C6C"/>
                </a:solidFill>
              </a:rPr>
              <a:t>0.717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6530" y="2746248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0.072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3145536"/>
            <a:ext cx="11247120" cy="448056"/>
          </a:xfrm>
          <a:prstGeom prst="rect">
            <a:avLst/>
          </a:prstGeom>
          <a:solidFill>
            <a:srgbClr val="110D0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5300" y="3221736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60"/>
                </a:solidFill>
              </a:rPr>
              <a:t>Mistral-7B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01190" y="3221736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60"/>
                </a:solidFill>
              </a:rPr>
              <a:t>41.4%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07080" y="3221736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6C6C"/>
                </a:solidFill>
              </a:rPr>
              <a:t>0.615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12970" y="3221736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0.279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18860" y="3221736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7D"/>
                </a:solidFill>
              </a:rPr>
              <a:t>0.459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24750" y="3221736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1.000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30640" y="3221736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7D"/>
                </a:solidFill>
              </a:rPr>
              <a:t>0.966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6530" y="3221736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6C6C"/>
                </a:solidFill>
              </a:rPr>
              <a:t>0.059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621024"/>
            <a:ext cx="11247120" cy="448056"/>
          </a:xfrm>
          <a:prstGeom prst="rect">
            <a:avLst/>
          </a:prstGeom>
          <a:solidFill>
            <a:srgbClr val="0C0B0F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5300" y="3697224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39DDB"/>
                </a:solidFill>
              </a:rPr>
              <a:t>GPT-5.4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01190" y="3697224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60"/>
                </a:solidFill>
              </a:rPr>
              <a:t>37.1%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07080" y="3697224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7D"/>
                </a:solidFill>
              </a:rPr>
              <a:t>0.804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12970" y="3697224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7D"/>
                </a:solidFill>
              </a:rPr>
              <a:t>0.444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18860" y="3697224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0.585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24750" y="3697224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1.000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30640" y="3697224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0.885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36530" y="3697224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7D"/>
                </a:solidFill>
              </a:rPr>
              <a:t>0.110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4096512"/>
            <a:ext cx="11247120" cy="448056"/>
          </a:xfrm>
          <a:prstGeom prst="rect">
            <a:avLst/>
          </a:prstGeom>
          <a:solidFill>
            <a:srgbClr val="100707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5300" y="4172712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6C6C"/>
                </a:solidFill>
              </a:rPr>
              <a:t>BLOOMZ-7B1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01190" y="4172712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6C6C"/>
                </a:solidFill>
              </a:rPr>
              <a:t>0.0%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07080" y="4172712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12970" y="4172712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18860" y="4172712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24750" y="4172712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</a:rPr>
              <a:t>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30640" y="4172712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36530" y="4172712"/>
            <a:ext cx="1367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6400800"/>
            <a:ext cx="11247120" cy="347472"/>
          </a:xfrm>
          <a:prstGeom prst="rect">
            <a:avLst/>
          </a:prstGeom>
          <a:solidFill>
            <a:srgbClr val="1E180C"/>
          </a:solidFill>
          <a:ln w="25400">
            <a:solidFill>
              <a:srgbClr val="F0C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4360" y="6477000"/>
            <a:ext cx="10972800" cy="19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class_label_ratio=1.000 for ALL models. property_label_ratio reveals gap: Llama-2-70B=0.717(worst), Mistral=0.966(best).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02920" cy="32004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283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AB4F8"/>
                </a:solidFill>
              </a:rPr>
              <a:t>Model × Config Parse Success Heatmap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270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2A4"/>
                </a:solidFill>
              </a:rPr>
              <a:t>Parse success rate per (model, config) pair. 14 scenarios each.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417320"/>
            <a:ext cx="1828800" cy="43891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48560" y="1468120"/>
            <a:ext cx="177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AB4F8"/>
                </a:solidFill>
              </a:rPr>
              <a:t>cq-only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417320"/>
            <a:ext cx="1828800" cy="43891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7360" y="1468120"/>
            <a:ext cx="177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AB4F8"/>
                </a:solidFill>
              </a:rPr>
              <a:t>scenario-cq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417320"/>
            <a:ext cx="1828800" cy="43891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06160" y="1468120"/>
            <a:ext cx="177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AB4F8"/>
                </a:solidFill>
              </a:rPr>
              <a:t>scenario-cq-constraints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417320"/>
            <a:ext cx="1828800" cy="43891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34960" y="1468120"/>
            <a:ext cx="177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AB4F8"/>
                </a:solidFill>
              </a:rPr>
              <a:t>scenario-cq-reasoning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38360" y="1417320"/>
            <a:ext cx="1828800" cy="43891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63760" y="1468120"/>
            <a:ext cx="177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AB4F8"/>
                </a:solidFill>
              </a:rPr>
              <a:t>scenario-only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67160" y="1417320"/>
            <a:ext cx="1828800" cy="43891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92560" y="1468120"/>
            <a:ext cx="177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AB4F8"/>
                </a:solidFill>
              </a:rPr>
              <a:t>Avg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874520"/>
            <a:ext cx="1920240" cy="594360"/>
          </a:xfrm>
          <a:prstGeom prst="rect">
            <a:avLst/>
          </a:prstGeom>
          <a:solidFill>
            <a:srgbClr val="090C11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001520"/>
            <a:ext cx="1874519" cy="46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B4F8"/>
                </a:solidFill>
              </a:rPr>
              <a:t>Gemini 3.1 Pro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3160" y="1874520"/>
            <a:ext cx="1828800" cy="594360"/>
          </a:xfrm>
          <a:prstGeom prst="rect">
            <a:avLst/>
          </a:prstGeom>
          <a:solidFill>
            <a:srgbClr val="07110C"/>
          </a:solidFill>
          <a:ln w="12700">
            <a:solidFill>
              <a:srgbClr val="13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23160" y="202692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7D"/>
                </a:solidFill>
              </a:rPr>
              <a:t>100.0%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1874520"/>
            <a:ext cx="1828800" cy="594360"/>
          </a:xfrm>
          <a:prstGeom prst="rect">
            <a:avLst/>
          </a:prstGeom>
          <a:solidFill>
            <a:srgbClr val="07110C"/>
          </a:solidFill>
          <a:ln w="12700">
            <a:solidFill>
              <a:srgbClr val="13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202692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7D"/>
                </a:solidFill>
              </a:rPr>
              <a:t>100.0%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1874520"/>
            <a:ext cx="1828800" cy="594360"/>
          </a:xfrm>
          <a:prstGeom prst="rect">
            <a:avLst/>
          </a:prstGeom>
          <a:solidFill>
            <a:srgbClr val="07110C"/>
          </a:solidFill>
          <a:ln w="12700">
            <a:solidFill>
              <a:srgbClr val="13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202692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7D"/>
                </a:solidFill>
              </a:rPr>
              <a:t>100.0%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1874520"/>
            <a:ext cx="1828800" cy="594360"/>
          </a:xfrm>
          <a:prstGeom prst="rect">
            <a:avLst/>
          </a:prstGeom>
          <a:solidFill>
            <a:srgbClr val="07110C"/>
          </a:solidFill>
          <a:ln w="12700">
            <a:solidFill>
              <a:srgbClr val="13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202692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7D"/>
                </a:solidFill>
              </a:rPr>
              <a:t>100.0%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38360" y="1874520"/>
            <a:ext cx="1828800" cy="594360"/>
          </a:xfrm>
          <a:prstGeom prst="rect">
            <a:avLst/>
          </a:prstGeom>
          <a:solidFill>
            <a:srgbClr val="07110C"/>
          </a:solidFill>
          <a:ln w="12700">
            <a:solidFill>
              <a:srgbClr val="13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202692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7D"/>
                </a:solidFill>
              </a:rPr>
              <a:t>100.0%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567160" y="1874520"/>
            <a:ext cx="1828800" cy="594360"/>
          </a:xfrm>
          <a:prstGeom prst="rect">
            <a:avLst/>
          </a:prstGeom>
          <a:solidFill>
            <a:srgbClr val="07110C"/>
          </a:solidFill>
          <a:ln w="25400">
            <a:solidFill>
              <a:srgbClr val="13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567160" y="202692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7D"/>
                </a:solidFill>
              </a:rPr>
              <a:t>100.0%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468880"/>
            <a:ext cx="1920240" cy="594360"/>
          </a:xfrm>
          <a:prstGeom prst="rect">
            <a:avLst/>
          </a:prstGeom>
          <a:solidFill>
            <a:srgbClr val="050C0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2595880"/>
            <a:ext cx="1874519" cy="46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AF7D"/>
                </a:solidFill>
              </a:rPr>
              <a:t>Llama-3.1-8B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23160" y="2468880"/>
            <a:ext cx="1828800" cy="594360"/>
          </a:xfrm>
          <a:prstGeom prst="rect">
            <a:avLst/>
          </a:prstGeom>
          <a:solidFill>
            <a:srgbClr val="07110C"/>
          </a:solidFill>
          <a:ln w="12700">
            <a:solidFill>
              <a:srgbClr val="13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23160" y="262128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7D"/>
                </a:solidFill>
              </a:rPr>
              <a:t>78.6%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60" y="2468880"/>
            <a:ext cx="1828800" cy="594360"/>
          </a:xfrm>
          <a:prstGeom prst="rect">
            <a:avLst/>
          </a:prstGeom>
          <a:solidFill>
            <a:srgbClr val="07110C"/>
          </a:solidFill>
          <a:ln w="12700">
            <a:solidFill>
              <a:srgbClr val="13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51960" y="262128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7D"/>
                </a:solidFill>
              </a:rPr>
              <a:t>85.7%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2468880"/>
            <a:ext cx="1828800" cy="594360"/>
          </a:xfrm>
          <a:prstGeom prst="rect">
            <a:avLst/>
          </a:prstGeom>
          <a:solidFill>
            <a:srgbClr val="181309"/>
          </a:solidFill>
          <a:ln w="12700">
            <a:solidFill>
              <a:srgbClr val="3C3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262128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C060"/>
                </a:solidFill>
              </a:rPr>
              <a:t>64.3%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09560" y="2468880"/>
            <a:ext cx="1828800" cy="594360"/>
          </a:xfrm>
          <a:prstGeom prst="rect">
            <a:avLst/>
          </a:prstGeom>
          <a:solidFill>
            <a:srgbClr val="07110C"/>
          </a:solidFill>
          <a:ln w="12700">
            <a:solidFill>
              <a:srgbClr val="13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09560" y="262128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7D"/>
                </a:solidFill>
              </a:rPr>
              <a:t>71.4%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38360" y="2468880"/>
            <a:ext cx="1828800" cy="594360"/>
          </a:xfrm>
          <a:prstGeom prst="rect">
            <a:avLst/>
          </a:prstGeom>
          <a:solidFill>
            <a:srgbClr val="07110C"/>
          </a:solidFill>
          <a:ln w="12700">
            <a:solidFill>
              <a:srgbClr val="13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38360" y="262128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7D"/>
                </a:solidFill>
              </a:rPr>
              <a:t>78.6%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567160" y="2468880"/>
            <a:ext cx="1828800" cy="594360"/>
          </a:xfrm>
          <a:prstGeom prst="rect">
            <a:avLst/>
          </a:prstGeom>
          <a:solidFill>
            <a:srgbClr val="07110C"/>
          </a:solidFill>
          <a:ln w="25400">
            <a:solidFill>
              <a:srgbClr val="13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567160" y="262128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7D"/>
                </a:solidFill>
              </a:rPr>
              <a:t>75.7%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063240"/>
            <a:ext cx="1920240" cy="594360"/>
          </a:xfrm>
          <a:prstGeom prst="rect">
            <a:avLst/>
          </a:prstGeom>
          <a:solidFill>
            <a:srgbClr val="110D0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" y="3190240"/>
            <a:ext cx="1874519" cy="46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60"/>
                </a:solidFill>
              </a:rPr>
              <a:t>Llama-2-70B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3063240"/>
            <a:ext cx="1828800" cy="594360"/>
          </a:xfrm>
          <a:prstGeom prst="rect">
            <a:avLst/>
          </a:prstGeom>
          <a:solidFill>
            <a:srgbClr val="07110C"/>
          </a:solidFill>
          <a:ln w="12700">
            <a:solidFill>
              <a:srgbClr val="13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23160" y="321564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7D"/>
                </a:solidFill>
              </a:rPr>
              <a:t>85.7%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51960" y="3063240"/>
            <a:ext cx="1828800" cy="594360"/>
          </a:xfrm>
          <a:prstGeom prst="rect">
            <a:avLst/>
          </a:prstGeom>
          <a:solidFill>
            <a:srgbClr val="07110C"/>
          </a:solidFill>
          <a:ln w="12700">
            <a:solidFill>
              <a:srgbClr val="13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51960" y="321564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7D"/>
                </a:solidFill>
              </a:rPr>
              <a:t>71.4%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3063240"/>
            <a:ext cx="1828800" cy="594360"/>
          </a:xfrm>
          <a:prstGeom prst="rect">
            <a:avLst/>
          </a:prstGeom>
          <a:solidFill>
            <a:srgbClr val="07110C"/>
          </a:solidFill>
          <a:ln w="12700">
            <a:solidFill>
              <a:srgbClr val="13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0760" y="321564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7D"/>
                </a:solidFill>
              </a:rPr>
              <a:t>71.4%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09560" y="3063240"/>
            <a:ext cx="1828800" cy="594360"/>
          </a:xfrm>
          <a:prstGeom prst="rect">
            <a:avLst/>
          </a:prstGeom>
          <a:solidFill>
            <a:srgbClr val="181309"/>
          </a:solidFill>
          <a:ln w="12700">
            <a:solidFill>
              <a:srgbClr val="3C3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09560" y="321564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C060"/>
                </a:solidFill>
              </a:rPr>
              <a:t>50.0%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38360" y="3063240"/>
            <a:ext cx="1828800" cy="594360"/>
          </a:xfrm>
          <a:prstGeom prst="rect">
            <a:avLst/>
          </a:prstGeom>
          <a:solidFill>
            <a:srgbClr val="181309"/>
          </a:solidFill>
          <a:ln w="12700">
            <a:solidFill>
              <a:srgbClr val="3C3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38360" y="321564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C060"/>
                </a:solidFill>
              </a:rPr>
              <a:t>50.0%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567160" y="3063240"/>
            <a:ext cx="1828800" cy="594360"/>
          </a:xfrm>
          <a:prstGeom prst="rect">
            <a:avLst/>
          </a:prstGeom>
          <a:solidFill>
            <a:srgbClr val="181309"/>
          </a:solidFill>
          <a:ln w="25400">
            <a:solidFill>
              <a:srgbClr val="3C3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567160" y="321564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C060"/>
                </a:solidFill>
              </a:rPr>
              <a:t>65.7%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3657600"/>
            <a:ext cx="1920240" cy="594360"/>
          </a:xfrm>
          <a:prstGeom prst="rect">
            <a:avLst/>
          </a:prstGeom>
          <a:solidFill>
            <a:srgbClr val="110D0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5488" y="3784600"/>
            <a:ext cx="1874519" cy="46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60"/>
                </a:solidFill>
              </a:rPr>
              <a:t>Mistral-7B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23160" y="3657600"/>
            <a:ext cx="1828800" cy="594360"/>
          </a:xfrm>
          <a:prstGeom prst="rect">
            <a:avLst/>
          </a:prstGeom>
          <a:solidFill>
            <a:srgbClr val="181309"/>
          </a:solidFill>
          <a:ln w="12700">
            <a:solidFill>
              <a:srgbClr val="3C3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423160" y="381000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C060"/>
                </a:solidFill>
              </a:rPr>
              <a:t>50.0%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51960" y="3657600"/>
            <a:ext cx="1828800" cy="594360"/>
          </a:xfrm>
          <a:prstGeom prst="rect">
            <a:avLst/>
          </a:prstGeom>
          <a:solidFill>
            <a:srgbClr val="181309"/>
          </a:solidFill>
          <a:ln w="12700">
            <a:solidFill>
              <a:srgbClr val="3C3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51960" y="381000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C060"/>
                </a:solidFill>
              </a:rPr>
              <a:t>28.6%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80760" y="3657600"/>
            <a:ext cx="1828800" cy="594360"/>
          </a:xfrm>
          <a:prstGeom prst="rect">
            <a:avLst/>
          </a:prstGeom>
          <a:solidFill>
            <a:srgbClr val="181309"/>
          </a:solidFill>
          <a:ln w="12700">
            <a:solidFill>
              <a:srgbClr val="3C3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080760" y="381000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C060"/>
                </a:solidFill>
              </a:rPr>
              <a:t>7.1%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909560" y="3657600"/>
            <a:ext cx="1828800" cy="594360"/>
          </a:xfrm>
          <a:prstGeom prst="rect">
            <a:avLst/>
          </a:prstGeom>
          <a:solidFill>
            <a:srgbClr val="181309"/>
          </a:solidFill>
          <a:ln w="12700">
            <a:solidFill>
              <a:srgbClr val="3C3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09560" y="381000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C060"/>
                </a:solidFill>
              </a:rPr>
              <a:t>42.9%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738360" y="3657600"/>
            <a:ext cx="1828800" cy="594360"/>
          </a:xfrm>
          <a:prstGeom prst="rect">
            <a:avLst/>
          </a:prstGeom>
          <a:solidFill>
            <a:srgbClr val="07110C"/>
          </a:solidFill>
          <a:ln w="12700">
            <a:solidFill>
              <a:srgbClr val="13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38360" y="381000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7D"/>
                </a:solidFill>
              </a:rPr>
              <a:t>78.6%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567160" y="3657600"/>
            <a:ext cx="1828800" cy="594360"/>
          </a:xfrm>
          <a:prstGeom prst="rect">
            <a:avLst/>
          </a:prstGeom>
          <a:solidFill>
            <a:srgbClr val="181309"/>
          </a:solidFill>
          <a:ln w="25400">
            <a:solidFill>
              <a:srgbClr val="3C3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567160" y="381000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C060"/>
                </a:solidFill>
              </a:rPr>
              <a:t>41.4%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251960"/>
            <a:ext cx="1920240" cy="594360"/>
          </a:xfrm>
          <a:prstGeom prst="rect">
            <a:avLst/>
          </a:prstGeom>
          <a:solidFill>
            <a:srgbClr val="0C0B0F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5488" y="4378960"/>
            <a:ext cx="1874519" cy="46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39DDB"/>
                </a:solidFill>
              </a:rPr>
              <a:t>GPT-5.4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423160" y="4251960"/>
            <a:ext cx="1828800" cy="594360"/>
          </a:xfrm>
          <a:prstGeom prst="rect">
            <a:avLst/>
          </a:prstGeom>
          <a:solidFill>
            <a:srgbClr val="07110C"/>
          </a:solidFill>
          <a:ln w="12700">
            <a:solidFill>
              <a:srgbClr val="13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423160" y="440436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7D"/>
                </a:solidFill>
              </a:rPr>
              <a:t>85.7%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51960" y="4251960"/>
            <a:ext cx="1828800" cy="594360"/>
          </a:xfrm>
          <a:prstGeom prst="rect">
            <a:avLst/>
          </a:prstGeom>
          <a:solidFill>
            <a:srgbClr val="181309"/>
          </a:solidFill>
          <a:ln w="12700">
            <a:solidFill>
              <a:srgbClr val="3C3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51960" y="440436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C060"/>
                </a:solidFill>
              </a:rPr>
              <a:t>50.0%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80760" y="4251960"/>
            <a:ext cx="1828800" cy="594360"/>
          </a:xfrm>
          <a:prstGeom prst="rect">
            <a:avLst/>
          </a:prstGeom>
          <a:solidFill>
            <a:srgbClr val="160A0A"/>
          </a:solidFill>
          <a:ln w="12700">
            <a:solidFill>
              <a:srgbClr val="38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080760" y="440436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06C6C"/>
                </a:solidFill>
              </a:rP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909560" y="4251960"/>
            <a:ext cx="1828800" cy="594360"/>
          </a:xfrm>
          <a:prstGeom prst="rect">
            <a:avLst/>
          </a:prstGeom>
          <a:solidFill>
            <a:srgbClr val="160A0A"/>
          </a:solidFill>
          <a:ln w="12700">
            <a:solidFill>
              <a:srgbClr val="38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909560" y="440436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06C6C"/>
                </a:solidFill>
              </a:rPr>
              <a:t>0.0%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738360" y="4251960"/>
            <a:ext cx="1828800" cy="594360"/>
          </a:xfrm>
          <a:prstGeom prst="rect">
            <a:avLst/>
          </a:prstGeom>
          <a:solidFill>
            <a:srgbClr val="181309"/>
          </a:solidFill>
          <a:ln w="12700">
            <a:solidFill>
              <a:srgbClr val="3C3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738360" y="440436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C060"/>
                </a:solidFill>
              </a:rPr>
              <a:t>50.0%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567160" y="4251960"/>
            <a:ext cx="1828800" cy="594360"/>
          </a:xfrm>
          <a:prstGeom prst="rect">
            <a:avLst/>
          </a:prstGeom>
          <a:solidFill>
            <a:srgbClr val="181309"/>
          </a:solidFill>
          <a:ln w="25400">
            <a:solidFill>
              <a:srgbClr val="3C3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567160" y="440436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C060"/>
                </a:solidFill>
              </a:rPr>
              <a:t>37.1%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4846320"/>
            <a:ext cx="1920240" cy="594360"/>
          </a:xfrm>
          <a:prstGeom prst="rect">
            <a:avLst/>
          </a:prstGeom>
          <a:solidFill>
            <a:srgbClr val="100707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5488" y="4973320"/>
            <a:ext cx="1874519" cy="46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6C6C"/>
                </a:solidFill>
              </a:rPr>
              <a:t>BLOOMZ-7B1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423160" y="4846320"/>
            <a:ext cx="1828800" cy="594360"/>
          </a:xfrm>
          <a:prstGeom prst="rect">
            <a:avLst/>
          </a:prstGeom>
          <a:solidFill>
            <a:srgbClr val="160A0A"/>
          </a:solidFill>
          <a:ln w="12700">
            <a:solidFill>
              <a:srgbClr val="38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423160" y="499872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06C6C"/>
                </a:solidFill>
              </a:rPr>
              <a:t>0.0%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51960" y="4846320"/>
            <a:ext cx="1828800" cy="594360"/>
          </a:xfrm>
          <a:prstGeom prst="rect">
            <a:avLst/>
          </a:prstGeom>
          <a:solidFill>
            <a:srgbClr val="160A0A"/>
          </a:solidFill>
          <a:ln w="12700">
            <a:solidFill>
              <a:srgbClr val="38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51960" y="499872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06C6C"/>
                </a:solidFill>
              </a:rPr>
              <a:t>0.0%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80760" y="4846320"/>
            <a:ext cx="1828800" cy="594360"/>
          </a:xfrm>
          <a:prstGeom prst="rect">
            <a:avLst/>
          </a:prstGeom>
          <a:solidFill>
            <a:srgbClr val="160A0A"/>
          </a:solidFill>
          <a:ln w="12700">
            <a:solidFill>
              <a:srgbClr val="38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080760" y="499872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06C6C"/>
                </a:solidFill>
              </a:rP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909560" y="4846320"/>
            <a:ext cx="1828800" cy="594360"/>
          </a:xfrm>
          <a:prstGeom prst="rect">
            <a:avLst/>
          </a:prstGeom>
          <a:solidFill>
            <a:srgbClr val="160A0A"/>
          </a:solidFill>
          <a:ln w="12700">
            <a:solidFill>
              <a:srgbClr val="38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909560" y="499872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06C6C"/>
                </a:solidFill>
              </a:rPr>
              <a:t>0.0%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738360" y="4846320"/>
            <a:ext cx="1828800" cy="594360"/>
          </a:xfrm>
          <a:prstGeom prst="rect">
            <a:avLst/>
          </a:prstGeom>
          <a:solidFill>
            <a:srgbClr val="160A0A"/>
          </a:solidFill>
          <a:ln w="12700">
            <a:solidFill>
              <a:srgbClr val="38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38360" y="499872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06C6C"/>
                </a:solidFill>
              </a:rPr>
              <a:t>0.0%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1567160" y="4846320"/>
            <a:ext cx="1828800" cy="594360"/>
          </a:xfrm>
          <a:prstGeom prst="rect">
            <a:avLst/>
          </a:prstGeom>
          <a:solidFill>
            <a:srgbClr val="160A0A"/>
          </a:solidFill>
          <a:ln w="25400">
            <a:solidFill>
              <a:srgbClr val="38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567160" y="4998720"/>
            <a:ext cx="182880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06C6C"/>
                </a:solidFill>
              </a:rPr>
              <a:t>0.0%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6291072"/>
            <a:ext cx="6858000" cy="475488"/>
          </a:xfrm>
          <a:prstGeom prst="rect">
            <a:avLst/>
          </a:prstGeom>
          <a:solidFill>
            <a:srgbClr val="09150F"/>
          </a:solidFill>
          <a:ln w="25400"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94360" y="6367272"/>
            <a:ext cx="6583680" cy="32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Gemini 3.1 Pro: 100% across every config — unique. BLOOMZ-7B1: 0% across every config.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498079" y="6291072"/>
            <a:ext cx="4206240" cy="475488"/>
          </a:xfrm>
          <a:prstGeom prst="rect">
            <a:avLst/>
          </a:prstGeom>
          <a:solidFill>
            <a:srgbClr val="1E180C"/>
          </a:solidFill>
          <a:ln w="25400">
            <a:solidFill>
              <a:srgbClr val="F0C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635239" y="6367272"/>
            <a:ext cx="3931920" cy="32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GPT-5.4: 86% on cq-only, 0% on constraints/reasoning. Prompts break Turtle extraction.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02920" cy="32004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283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</a:rPr>
              <a:t>09b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AB4F8"/>
                </a:solidFill>
              </a:rPr>
              <a:t>Pilot Results — Structural Evaluation Rankings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270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</a:rPr>
              <a:t>Structural score = 0.5 × parse_rate + 0.5 × avg_OOPS_score. OOPS score: freedom from common OWL pitfalls (0=worst, 1=best). Computed per (model, config) pair, 14 scenarios.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AB4F8"/>
                </a:solidFill>
              </a:rPr>
              <a:t>Proprietary Models — Top 4 Configurations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19072"/>
            <a:ext cx="411480" cy="25603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600" y="1746504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B4F8"/>
                </a:solidFill>
              </a:rPr>
              <a:t>Rank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1719072"/>
            <a:ext cx="1389888" cy="25603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1512" y="1746504"/>
            <a:ext cx="13898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B4F8"/>
                </a:solidFill>
              </a:rPr>
              <a:t>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1719072"/>
            <a:ext cx="1993392" cy="25603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7120" y="1746504"/>
            <a:ext cx="1993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B4F8"/>
                </a:solidFill>
              </a:rPr>
              <a:t>Config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2" y="1719072"/>
            <a:ext cx="749808" cy="25603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6232" y="1746504"/>
            <a:ext cx="749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B4F8"/>
                </a:solidFill>
              </a:rPr>
              <a:t>Struct.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1719072"/>
            <a:ext cx="566928" cy="25603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1760" y="1746504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B4F8"/>
                </a:solidFill>
              </a:rPr>
              <a:t>OOPS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1719072"/>
            <a:ext cx="548640" cy="25603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6120" y="174650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B4F8"/>
                </a:solidFill>
              </a:rPr>
              <a:t>Parse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002536"/>
            <a:ext cx="6035040" cy="448056"/>
          </a:xfrm>
          <a:prstGeom prst="rect">
            <a:avLst/>
          </a:prstGeom>
          <a:solidFill>
            <a:srgbClr val="07160E"/>
          </a:solidFill>
          <a:ln w="19050">
            <a:solidFill>
              <a:srgbClr val="2A6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2600" y="2078736"/>
            <a:ext cx="36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EAF0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512" y="2078736"/>
            <a:ext cx="1339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B4F8"/>
                </a:solidFill>
              </a:rPr>
              <a:t>Gemini 3.1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7120" y="2078736"/>
            <a:ext cx="1942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scenario-only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6232" y="2078736"/>
            <a:ext cx="699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AF7D"/>
                </a:solidFill>
              </a:rPr>
              <a:t>0.982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1760" y="2078736"/>
            <a:ext cx="516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0.964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86120" y="2078736"/>
            <a:ext cx="49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100%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478024"/>
            <a:ext cx="6035040" cy="448056"/>
          </a:xfrm>
          <a:prstGeom prst="rect">
            <a:avLst/>
          </a:prstGeom>
          <a:solidFill>
            <a:srgbClr val="0F1117"/>
          </a:solidFill>
          <a:ln w="63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600" y="2554224"/>
            <a:ext cx="36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EAF0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512" y="2554224"/>
            <a:ext cx="1339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B4F8"/>
                </a:solidFill>
              </a:rPr>
              <a:t>Gemini 3.1 Pro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57120" y="2554224"/>
            <a:ext cx="1942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scenario-cq-reasoning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96232" y="2554224"/>
            <a:ext cx="699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AF7D"/>
                </a:solidFill>
              </a:rPr>
              <a:t>0.857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1760" y="2554224"/>
            <a:ext cx="516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0.714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86120" y="2554224"/>
            <a:ext cx="49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100%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953512"/>
            <a:ext cx="6035040" cy="448056"/>
          </a:xfrm>
          <a:prstGeom prst="rect">
            <a:avLst/>
          </a:prstGeom>
          <a:solidFill>
            <a:srgbClr val="1A1D2E"/>
          </a:solidFill>
          <a:ln w="63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2600" y="3029712"/>
            <a:ext cx="36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EAF0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512" y="3029712"/>
            <a:ext cx="1339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39DDB"/>
                </a:solidFill>
              </a:rPr>
              <a:t>GPT-5.4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57120" y="3029712"/>
            <a:ext cx="1942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scenario-only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96232" y="3029712"/>
            <a:ext cx="699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C060"/>
                </a:solidFill>
              </a:rPr>
              <a:t>0.464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91760" y="3029712"/>
            <a:ext cx="516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0.429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86120" y="3029712"/>
            <a:ext cx="49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50%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429000"/>
            <a:ext cx="6035040" cy="448056"/>
          </a:xfrm>
          <a:prstGeom prst="rect">
            <a:avLst/>
          </a:prstGeom>
          <a:solidFill>
            <a:srgbClr val="0F1117"/>
          </a:solidFill>
          <a:ln w="63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2600" y="3505200"/>
            <a:ext cx="36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EAF0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512" y="3505200"/>
            <a:ext cx="1339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39DDB"/>
                </a:solidFill>
              </a:rPr>
              <a:t>GPT-5.4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57120" y="3505200"/>
            <a:ext cx="1942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scenario-cq-constraints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96232" y="3505200"/>
            <a:ext cx="699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6C6C"/>
                </a:solidFill>
              </a:rPr>
              <a:t>0.293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91760" y="3505200"/>
            <a:ext cx="516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0.214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86120" y="3505200"/>
            <a:ext cx="49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37%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041648"/>
            <a:ext cx="6035040" cy="475488"/>
          </a:xfrm>
          <a:prstGeom prst="rect">
            <a:avLst/>
          </a:prstGeom>
          <a:solidFill>
            <a:srgbClr val="09150F"/>
          </a:solidFill>
          <a:ln w="25400"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4117848"/>
            <a:ext cx="5760720" cy="32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Gemini scenario-only (0.982) = top structural result across ALL models and configs. Adding CQs does not always improve structural quality.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14173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7D"/>
                </a:solidFill>
              </a:rPr>
              <a:t>Open-Source Models — Top 3 Configurations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1719072"/>
            <a:ext cx="384048" cy="25603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26200" y="1746504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B4F8"/>
                </a:solidFill>
              </a:rPr>
              <a:t>Rank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12280" y="1719072"/>
            <a:ext cx="1234440" cy="25603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37680" y="1746504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B4F8"/>
                </a:solidFill>
              </a:rPr>
              <a:t>Model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92440" y="1719072"/>
            <a:ext cx="1664208" cy="25603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17840" y="1746504"/>
            <a:ext cx="1664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B4F8"/>
                </a:solidFill>
              </a:rPr>
              <a:t>Config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84080" y="1719072"/>
            <a:ext cx="621792" cy="25603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09480" y="1746504"/>
            <a:ext cx="6217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B4F8"/>
                </a:solidFill>
              </a:rPr>
              <a:t>Struct.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442448" y="1719072"/>
            <a:ext cx="566928" cy="25603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467848" y="1746504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B4F8"/>
                </a:solidFill>
              </a:rPr>
              <a:t>OOPS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045952" y="1719072"/>
            <a:ext cx="530352" cy="25603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071352" y="1746504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B4F8"/>
                </a:solidFill>
              </a:rPr>
              <a:t>Parse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2002536"/>
            <a:ext cx="5257800" cy="448056"/>
          </a:xfrm>
          <a:prstGeom prst="rect">
            <a:avLst/>
          </a:prstGeom>
          <a:solidFill>
            <a:srgbClr val="1A1D2E"/>
          </a:solidFill>
          <a:ln w="63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26200" y="2078736"/>
            <a:ext cx="333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EAF0"/>
                </a:solidFill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37680" y="2078736"/>
            <a:ext cx="1183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AF7D"/>
                </a:solidFill>
              </a:rPr>
              <a:t>Llama-3.1-8B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17840" y="2078736"/>
            <a:ext cx="1613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scenario-cq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09480" y="2078736"/>
            <a:ext cx="570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C060"/>
                </a:solidFill>
              </a:rPr>
              <a:t>0.616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67848" y="2078736"/>
            <a:ext cx="516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0.375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71352" y="2078736"/>
            <a:ext cx="479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85.7%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2478024"/>
            <a:ext cx="5257800" cy="448056"/>
          </a:xfrm>
          <a:prstGeom prst="rect">
            <a:avLst/>
          </a:prstGeom>
          <a:solidFill>
            <a:srgbClr val="041208"/>
          </a:solidFill>
          <a:ln w="19050">
            <a:solidFill>
              <a:srgbClr val="2A6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26200" y="2554224"/>
            <a:ext cx="333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EAF0"/>
                </a:solidFill>
              </a:rPr>
              <a:t>2★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37680" y="2554224"/>
            <a:ext cx="1183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AF7D"/>
                </a:solidFill>
              </a:rPr>
              <a:t>Llama-3.1-8B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17840" y="2554224"/>
            <a:ext cx="1613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scenario-only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09480" y="2554224"/>
            <a:ext cx="570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C060"/>
                </a:solidFill>
              </a:rPr>
              <a:t>0.595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67848" y="2554224"/>
            <a:ext cx="516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0.405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71352" y="2554224"/>
            <a:ext cx="479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78.6%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0" y="2953512"/>
            <a:ext cx="5257800" cy="448056"/>
          </a:xfrm>
          <a:prstGeom prst="rect">
            <a:avLst/>
          </a:prstGeom>
          <a:solidFill>
            <a:srgbClr val="041208"/>
          </a:solidFill>
          <a:ln w="19050">
            <a:solidFill>
              <a:srgbClr val="2A6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26200" y="3029712"/>
            <a:ext cx="333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EAF0"/>
                </a:solidFill>
              </a:rPr>
              <a:t>3★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7680" y="3029712"/>
            <a:ext cx="1183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C060"/>
                </a:solidFill>
              </a:rPr>
              <a:t>Llama-2-70B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17840" y="3029712"/>
            <a:ext cx="1613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cq-only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09480" y="3029712"/>
            <a:ext cx="570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C060"/>
                </a:solidFill>
              </a:rPr>
              <a:t>0.589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67848" y="3029712"/>
            <a:ext cx="516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0.321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071352" y="3029712"/>
            <a:ext cx="479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85.7%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00800" y="3127248"/>
            <a:ext cx="5257800" cy="475488"/>
          </a:xfrm>
          <a:prstGeom prst="rect">
            <a:avLst/>
          </a:prstGeom>
          <a:solidFill>
            <a:srgbClr val="1E180C"/>
          </a:solidFill>
          <a:ln w="25400">
            <a:solidFill>
              <a:srgbClr val="F0C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537960" y="3203448"/>
            <a:ext cx="4983480" cy="32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★ Selected for human evaluation. Scenario-only chosen over scenario-cq to test prompt minimalism.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3675887"/>
            <a:ext cx="5257800" cy="475488"/>
          </a:xfrm>
          <a:prstGeom prst="rect">
            <a:avLst/>
          </a:prstGeom>
          <a:solidFill>
            <a:srgbClr val="1C0D0D"/>
          </a:solidFill>
          <a:ln w="25400">
            <a:solidFill>
              <a:srgbClr val="E0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537960" y="3752087"/>
            <a:ext cx="4983480" cy="32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Anomaly: Llama-3.1-8B produced 22 repeated identical triple blocks on scenario 2025-151-01. Parseable — retained as edge case.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" y="4617720"/>
            <a:ext cx="11247120" cy="411480"/>
          </a:xfrm>
          <a:prstGeom prst="rect">
            <a:avLst/>
          </a:prstGeom>
          <a:solidFill>
            <a:srgbClr val="0D1117"/>
          </a:solidFill>
          <a:ln w="2540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4360" y="4693920"/>
            <a:ext cx="10972800" cy="25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Best open-source structural score (0.616) is 37% below best proprietary (0.982) — a significant gap that human evaluation will further contextualize.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02920" cy="32004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283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AB4F8"/>
                </a:solidFill>
              </a:rPr>
              <a:t>Functional Evaluation — Utility-Oriented Pilot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270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2A4"/>
                </a:solidFill>
              </a:rPr>
              <a:t>Functional evaluation measures whether generated ODPs answer CQs without adding unsupported ontological commitments.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44752"/>
            <a:ext cx="5029200" cy="3291840"/>
          </a:xfrm>
          <a:prstGeom prst="rect">
            <a:avLst/>
          </a:prstGeom>
          <a:solidFill>
            <a:srgbClr val="1A1D2E"/>
          </a:solidFill>
          <a:ln w="1905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1533652"/>
            <a:ext cx="487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B4F8"/>
                </a:solidFill>
              </a:rPr>
              <a:t>Scoring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792224"/>
            <a:ext cx="48768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functional_score = 0.5 × manual_score + 0.5 × cq_pass_rate
• numb: total elements beyond ground truth
• numbnoscen: extra with no scenario grounding
• superfluous_penalty = numbnoscen×1.0 + (numb−numbnoscen)×0.3
• manual_score = 1 / (1 + 0.5 × superfluous_penalty)
• cq_pass_rate: fraction of CQs answered by the generated ODP
• Unsupported additions penalized ×1.0; scenario-justified ×0.3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41732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AB4F8"/>
                </a:solidFill>
              </a:rPr>
              <a:t>Pilot Results — Best Config per Model Family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719072"/>
            <a:ext cx="1143000" cy="25603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94680" y="174650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B4F8"/>
                </a:solidFill>
              </a:rPr>
              <a:t>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719072"/>
            <a:ext cx="1325880" cy="25603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3400" y="1746504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B4F8"/>
                </a:solidFill>
              </a:rPr>
              <a:t>Config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719072"/>
            <a:ext cx="868680" cy="25603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5000" y="174650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B4F8"/>
                </a:solidFill>
              </a:rPr>
              <a:t>Avg Extra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719072"/>
            <a:ext cx="960120" cy="25603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9400" y="1746504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B4F8"/>
                </a:solidFill>
              </a:rPr>
              <a:t>Manual 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0" y="1719072"/>
            <a:ext cx="777240" cy="25603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75240" y="174650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B4F8"/>
                </a:solidFill>
              </a:rPr>
              <a:t>CQ 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0" y="1719072"/>
            <a:ext cx="914400" cy="25603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98200" y="174650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B4F8"/>
                </a:solidFill>
              </a:rPr>
              <a:t>Func. 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2002536"/>
            <a:ext cx="6492240" cy="448056"/>
          </a:xfrm>
          <a:prstGeom prst="rect">
            <a:avLst/>
          </a:prstGeom>
          <a:solidFill>
            <a:srgbClr val="07160E"/>
          </a:solidFill>
          <a:ln w="19050">
            <a:solidFill>
              <a:srgbClr val="2A6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94680" y="2078736"/>
            <a:ext cx="1092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AF7D"/>
                </a:solidFill>
              </a:rPr>
              <a:t>llama70b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3400" y="2078736"/>
            <a:ext cx="1275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cq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5000" y="2078736"/>
            <a:ext cx="817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0.79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400" y="2078736"/>
            <a:ext cx="909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CAF7D"/>
                </a:solidFill>
              </a:rPr>
              <a:t>0.866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75240" y="2078736"/>
            <a:ext cx="726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CAF7D"/>
                </a:solidFill>
              </a:rPr>
              <a:t>0.202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98200" y="2078736"/>
            <a:ext cx="86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AF7D"/>
                </a:solidFill>
              </a:rPr>
              <a:t>0.534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2478024"/>
            <a:ext cx="6492240" cy="448056"/>
          </a:xfrm>
          <a:prstGeom prst="rect">
            <a:avLst/>
          </a:prstGeom>
          <a:solidFill>
            <a:srgbClr val="0F1117"/>
          </a:solidFill>
          <a:ln w="63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94680" y="2554224"/>
            <a:ext cx="1092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EAF0"/>
                </a:solidFill>
              </a:rPr>
              <a:t>gpt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3400" y="2554224"/>
            <a:ext cx="1275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scenario cq constraints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5000" y="2554224"/>
            <a:ext cx="817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1.00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9400" y="2554224"/>
            <a:ext cx="909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CAF7D"/>
                </a:solidFill>
              </a:rPr>
              <a:t>0.862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75240" y="2554224"/>
            <a:ext cx="726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CAF7D"/>
                </a:solidFill>
              </a:rPr>
              <a:t>0.191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98200" y="2554224"/>
            <a:ext cx="86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C060"/>
                </a:solidFill>
              </a:rPr>
              <a:t>0.526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2953512"/>
            <a:ext cx="6492240" cy="448056"/>
          </a:xfrm>
          <a:prstGeom prst="rect">
            <a:avLst/>
          </a:prstGeom>
          <a:solidFill>
            <a:srgbClr val="1A1D2E"/>
          </a:solidFill>
          <a:ln w="63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94680" y="3029712"/>
            <a:ext cx="1092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EAF0"/>
                </a:solidFill>
              </a:rPr>
              <a:t>llama8b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83400" y="3029712"/>
            <a:ext cx="1275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scenario cq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55000" y="3029712"/>
            <a:ext cx="817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4.50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69400" y="3029712"/>
            <a:ext cx="909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C060"/>
                </a:solidFill>
              </a:rPr>
              <a:t>0.719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75240" y="3029712"/>
            <a:ext cx="726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C060"/>
                </a:solidFill>
              </a:rPr>
              <a:t>0.133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98200" y="3029712"/>
            <a:ext cx="86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6C6C"/>
                </a:solidFill>
              </a:rPr>
              <a:t>0.426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0" y="3429000"/>
            <a:ext cx="6492240" cy="448056"/>
          </a:xfrm>
          <a:prstGeom prst="rect">
            <a:avLst/>
          </a:prstGeom>
          <a:solidFill>
            <a:srgbClr val="0F1117"/>
          </a:solidFill>
          <a:ln w="63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4680" y="3505200"/>
            <a:ext cx="1092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EAF0"/>
                </a:solidFill>
              </a:rPr>
              <a:t>gemini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83400" y="3505200"/>
            <a:ext cx="1275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scenario cq reasoning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55000" y="3505200"/>
            <a:ext cx="817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2.21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69400" y="3505200"/>
            <a:ext cx="909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C060"/>
                </a:solidFill>
              </a:rPr>
              <a:t>0.774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75240" y="3505200"/>
            <a:ext cx="726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6C6C"/>
                </a:solidFill>
              </a:rPr>
              <a:t>0.023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98200" y="3505200"/>
            <a:ext cx="86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6C6C"/>
                </a:solidFill>
              </a:rPr>
              <a:t>0.399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892040"/>
            <a:ext cx="11247120" cy="502920"/>
          </a:xfrm>
          <a:prstGeom prst="rect">
            <a:avLst/>
          </a:prstGeom>
          <a:solidFill>
            <a:srgbClr val="1E180C"/>
          </a:solidFill>
          <a:ln w="25400">
            <a:solidFill>
              <a:srgbClr val="F0C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4968240"/>
            <a:ext cx="1097280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Key finding: Llama-2-70B (cq-only) wins functional eval (0.534) despite poor structural quality — because it produces near-minimal ontologies (avg. 0.79 extra elements). Automated metrics reward parsimony, not modeling correctness.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486400"/>
            <a:ext cx="11247120" cy="475488"/>
          </a:xfrm>
          <a:prstGeom prst="rect">
            <a:avLst/>
          </a:prstGeom>
          <a:solidFill>
            <a:srgbClr val="1C0D0D"/>
          </a:solidFill>
          <a:ln w="25400">
            <a:solidFill>
              <a:srgbClr val="E0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5562600"/>
            <a:ext cx="10972800" cy="32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Evaluation gap: functional scores cannot detect ontological modeling errors (bad domain/range, incoherent axioms). Expert human evaluation is essential to validate real-world utility.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02920" cy="32004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283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AB4F8"/>
                </a:solidFill>
              </a:rPr>
              <a:t>Open-Source Model Selection for Human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270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2A4"/>
                </a:solidFill>
              </a:rPr>
              <a:t>Structural and functional evaluations identify different open-source winners. Two configurations selected — one per quality dimension.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394960" cy="3931920"/>
          </a:xfrm>
          <a:prstGeom prst="rect">
            <a:avLst/>
          </a:prstGeom>
          <a:solidFill>
            <a:srgbClr val="041208"/>
          </a:solidFill>
          <a:ln w="25400">
            <a:solidFill>
              <a:srgbClr val="2A6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</a:rPr>
              <a:t>Track A — Structural / Creativity Winner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EAF0"/>
                </a:solidFill>
              </a:rPr>
              <a:t>Llama-3.1-8B  +  scenario-only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4086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Structural score 0.595 — best open-source scenario-only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883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OOPS score 0.405 — highest open-source in this 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358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Parse rate 78.6% across 14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83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Tests whether scenario text alone suffices for ODP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307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Richer ontological output; higher creativity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782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Trade-off: more superfluous additions than minimal configs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463040"/>
            <a:ext cx="5669280" cy="3931920"/>
          </a:xfrm>
          <a:prstGeom prst="rect">
            <a:avLst/>
          </a:prstGeom>
          <a:solidFill>
            <a:srgbClr val="121004"/>
          </a:solidFill>
          <a:ln w="25400">
            <a:solidFill>
              <a:srgbClr val="80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5544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C060"/>
                </a:solidFill>
              </a:rPr>
              <a:t>Track B — Functional Winner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874519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EAF0"/>
                </a:solidFill>
              </a:rPr>
              <a:t>Llama-2-70B  +  cq-only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34086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Functional score 0.534 — best among all evaluated configurations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68833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CQ pass rate 0.202 — highest open-source cq-only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0358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Parse rate 85.7% in cq-only configuration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3832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Average 0.79 extra elements: extremely minimal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7307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Structural quality known to be poor (bad OWL modeling)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7822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Human experts will assess functional vs. structural divergence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32120"/>
            <a:ext cx="11247120" cy="475488"/>
          </a:xfrm>
          <a:prstGeom prst="rect">
            <a:avLst/>
          </a:prstGeom>
          <a:solidFill>
            <a:srgbClr val="09150F"/>
          </a:solidFill>
          <a:ln w="25400"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608320"/>
            <a:ext cx="10972800" cy="32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Scientific motivation: structural vs. functional metrics select DIFFERENT winners. Human evaluation will determine which dimension better predicts real-world utility for ontology engineers.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080760"/>
            <a:ext cx="11247120" cy="411480"/>
          </a:xfrm>
          <a:prstGeom prst="rect">
            <a:avLst/>
          </a:prstGeom>
          <a:solidFill>
            <a:srgbClr val="0D1117"/>
          </a:solidFill>
          <a:ln w="2540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156960"/>
            <a:ext cx="10972800" cy="25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Scope reduction: 2 open-source configs (from 5) makes human evaluation feasible while probing opposite ends of the prompting spectrum.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02920" cy="32004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283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AB4F8"/>
                </a:solidFill>
              </a:rPr>
              <a:t>Human Evaluation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270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2A4"/>
                </a:solidFill>
              </a:rPr>
              <a:t>Expert and student evaluation of selected LLM-generated ODPs. Blind design: evaluators do not know if an ODP was LLM-generated or human-authored.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657600" cy="3474720"/>
          </a:xfrm>
          <a:prstGeom prst="rect">
            <a:avLst/>
          </a:prstGeom>
          <a:solidFill>
            <a:srgbClr val="1A1D2E"/>
          </a:solidFill>
          <a:ln w="19050">
            <a:solidFill>
              <a:srgbClr val="242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1506220"/>
            <a:ext cx="350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8EBF"/>
                </a:solidFill>
              </a:rPr>
              <a:t>Pattern Authors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764792"/>
            <a:ext cx="3505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Author role: lead / co-author
• Intent match (1–5): models original pattern intent?
• Scope appropriateness (1–5): too broad / narrow / right?
• Reuse readiness (1–5): usable without major rework?
• Adoption threshold: start from draft or scratch? (Y/M/N)
• Time saved: 0% / 1–25% / 26–50% / 51–75% / 76–100%
• Missing core elements: free 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657600" cy="3474720"/>
          </a:xfrm>
          <a:prstGeom prst="rect">
            <a:avLst/>
          </a:prstGeom>
          <a:solidFill>
            <a:srgbClr val="1A1D2E"/>
          </a:solidFill>
          <a:ln w="19050">
            <a:solidFill>
              <a:srgbClr val="193A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1506220"/>
            <a:ext cx="350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</a:rPr>
              <a:t>Ontology Experts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80" y="1764792"/>
            <a:ext cx="3505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Overall helpfulness (1–5)
• Reusability (1–5): reuse in related context?
• Clarity / Documentation (1–5)
• Adoption threshold: (Yes / Maybe / No + justification)
• Time saved: 0% → 76–100%
• Free text: observations, concerns, suggestions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417320"/>
            <a:ext cx="3657600" cy="3474720"/>
          </a:xfrm>
          <a:prstGeom prst="rect">
            <a:avLst/>
          </a:prstGeom>
          <a:solidFill>
            <a:srgbClr val="1A1D2E"/>
          </a:solidFill>
          <a:ln w="19050">
            <a:solidFill>
              <a:srgbClr val="50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4360" y="1506220"/>
            <a:ext cx="350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C060"/>
                </a:solidFill>
              </a:rPr>
              <a:t>MSc / PhD 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4360" y="1764792"/>
            <a:ext cx="3505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Time to understand (minutes)
• Documentation clarity (1–5)
• Naming clarity (1–5): intuitive names?
• Adoption threshold: (Yes / Maybe / No + justification)
• Time saved: 0% → 76–100%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7492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AB4F8"/>
                </a:solidFill>
              </a:rPr>
              <a:t>Participant Pool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76672"/>
            <a:ext cx="3657600" cy="365760"/>
          </a:xfrm>
          <a:prstGeom prst="rect">
            <a:avLst/>
          </a:prstGeom>
          <a:solidFill>
            <a:srgbClr val="1A1D2E"/>
          </a:solidFill>
          <a:ln w="63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0700" y="545287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92A4"/>
                </a:solidFill>
              </a:rPr>
              <a:t>Pattern authors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4528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B4F8"/>
                </a:solidFill>
              </a:rPr>
              <a:t>~2 (incl. 1 also student)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5376672"/>
            <a:ext cx="3657600" cy="365760"/>
          </a:xfrm>
          <a:prstGeom prst="rect">
            <a:avLst/>
          </a:prstGeom>
          <a:solidFill>
            <a:srgbClr val="1A1D2E"/>
          </a:solidFill>
          <a:ln w="63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180" y="545287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92A4"/>
                </a:solidFill>
              </a:rPr>
              <a:t>Ontology experts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54528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AF7D"/>
                </a:solidFill>
              </a:rPr>
              <a:t>~5 (some also authors)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5376672"/>
            <a:ext cx="3657600" cy="365760"/>
          </a:xfrm>
          <a:prstGeom prst="rect">
            <a:avLst/>
          </a:prstGeom>
          <a:solidFill>
            <a:srgbClr val="1A1D2E"/>
          </a:solidFill>
          <a:ln w="63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1660" y="545287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92A4"/>
                </a:solidFill>
              </a:rPr>
              <a:t>MSc/PhD students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54528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C060"/>
                </a:solidFill>
              </a:rPr>
              <a:t>~2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88152"/>
            <a:ext cx="3657600" cy="365760"/>
          </a:xfrm>
          <a:prstGeom prst="rect">
            <a:avLst/>
          </a:prstGeom>
          <a:solidFill>
            <a:srgbClr val="1A1D2E"/>
          </a:solidFill>
          <a:ln w="63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0700" y="586435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92A4"/>
                </a:solidFill>
              </a:rPr>
              <a:t>ISWC workshop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6435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39DDB"/>
                </a:solidFill>
              </a:rPr>
              <a:t>~8 experts + students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5788152"/>
            <a:ext cx="3657600" cy="365760"/>
          </a:xfrm>
          <a:prstGeom prst="rect">
            <a:avLst/>
          </a:prstGeom>
          <a:solidFill>
            <a:srgbClr val="1A1D2E"/>
          </a:solidFill>
          <a:ln w="63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180" y="586435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92A4"/>
                </a:solidFill>
              </a:rPr>
              <a:t>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586435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EAF0"/>
                </a:solidFill>
              </a:rPr>
              <a:t>~38 expert + ~38 student evaluators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5788152"/>
            <a:ext cx="3657600" cy="365760"/>
          </a:xfrm>
          <a:prstGeom prst="rect">
            <a:avLst/>
          </a:prstGeom>
          <a:solidFill>
            <a:srgbClr val="1A1D2E"/>
          </a:solidFill>
          <a:ln w="6350">
            <a:solidFill>
              <a:srgbClr val="2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01660" y="586435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92A4"/>
                </a:solidFill>
              </a:rPr>
              <a:t>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586435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92A4"/>
                </a:solidFill>
              </a:rPr>
              <a:t>~3 ontologies/person; authors: ~2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00800"/>
            <a:ext cx="7772400" cy="347472"/>
          </a:xfrm>
          <a:prstGeom prst="rect">
            <a:avLst/>
          </a:prstGeom>
          <a:solidFill>
            <a:srgbClr val="1E180C"/>
          </a:solidFill>
          <a:ln w="25400">
            <a:solidFill>
              <a:srgbClr val="F0C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6477000"/>
            <a:ext cx="7498080" cy="19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Open question: trim very long CQ lists (~3 representative CQs) to avoid participant fatigue.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6760" y="6400800"/>
            <a:ext cx="3337560" cy="347472"/>
          </a:xfrm>
          <a:prstGeom prst="rect">
            <a:avLst/>
          </a:prstGeom>
          <a:solidFill>
            <a:srgbClr val="0D1117"/>
          </a:solidFill>
          <a:ln w="2540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6477000"/>
            <a:ext cx="3063240" cy="19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Platform: github.com/ebrahimnorouzi/odp-platform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02920" cy="32004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283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AB4F8"/>
                </a:solidFill>
              </a:rPr>
              <a:t>Matched Class &amp; Property Names vs Ground Truth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270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2A4"/>
                </a:solidFill>
              </a:rPr>
              <a:t>Names in both generated ontology and ground truth (CamelCase split, case-folded). Low F1 ≠ zero conceptual overlap.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474720" cy="1600200"/>
          </a:xfrm>
          <a:prstGeom prst="rect">
            <a:avLst/>
          </a:prstGeom>
          <a:solidFill>
            <a:srgbClr val="1A1D2E"/>
          </a:solidFill>
          <a:ln w="1905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1551940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B4F8"/>
                </a:solidFill>
              </a:rPr>
              <a:t>Matching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810512"/>
            <a:ext cx="3322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URI local name extracted: :hasCause → 'has cause'
• CamelCase split: HasEffect → 'has effect'
• Case-folded &amp; whitespace-normalised
• Precision=|matched|/|generated|, Recall=|matched|/|GT|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463040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B4F8"/>
                </a:solidFill>
              </a:rPr>
              <a:t>Example Matches (GPT-5.4 &amp; Gemini, cq-only)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764792"/>
            <a:ext cx="2331720" cy="25603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52900" y="1792224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Model/Config/Scenario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764792"/>
            <a:ext cx="2697480" cy="25603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0340" y="1792224"/>
            <a:ext cx="2697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Matched Classes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764792"/>
            <a:ext cx="2514600" cy="256032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3540" y="1792224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B4F8"/>
                </a:solidFill>
              </a:rPr>
              <a:t>Matched Properties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048256"/>
            <a:ext cx="2331720" cy="457200"/>
          </a:xfrm>
          <a:prstGeom prst="rect">
            <a:avLst/>
          </a:prstGeom>
          <a:solidFill>
            <a:srgbClr val="1A1D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048256"/>
            <a:ext cx="2697480" cy="457200"/>
          </a:xfrm>
          <a:prstGeom prst="rect">
            <a:avLst/>
          </a:prstGeom>
          <a:solidFill>
            <a:srgbClr val="1A1D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2048256"/>
            <a:ext cx="2514600" cy="457200"/>
          </a:xfrm>
          <a:prstGeom prst="rect">
            <a:avLst/>
          </a:prstGeom>
          <a:solidFill>
            <a:srgbClr val="1A1D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52900" y="2099056"/>
            <a:ext cx="2255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GPT-5.4/cq-only/2023-133-01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0340" y="2099056"/>
            <a:ext cx="2621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CAF7D"/>
                </a:solidFill>
              </a:rPr>
              <a:t>event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3540" y="2099056"/>
            <a:ext cx="243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F8"/>
                </a:solidFill>
              </a:rPr>
              <a:t>has effect, has outcome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2532888"/>
            <a:ext cx="2331720" cy="457200"/>
          </a:xfrm>
          <a:prstGeom prst="rect">
            <a:avLst/>
          </a:prstGeom>
          <a:solidFill>
            <a:srgbClr val="0F1117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2532888"/>
            <a:ext cx="2697480" cy="457200"/>
          </a:xfrm>
          <a:prstGeom prst="rect">
            <a:avLst/>
          </a:prstGeom>
          <a:solidFill>
            <a:srgbClr val="0F1117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2532888"/>
            <a:ext cx="2514600" cy="457200"/>
          </a:xfrm>
          <a:prstGeom prst="rect">
            <a:avLst/>
          </a:prstGeom>
          <a:solidFill>
            <a:srgbClr val="0F1117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52900" y="2583688"/>
            <a:ext cx="2255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GPT-5.4/cq-only/2023-135-01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0340" y="2583688"/>
            <a:ext cx="2621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CAF7D"/>
                </a:solidFill>
              </a:rPr>
              <a:t>name usage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3540" y="2583688"/>
            <a:ext cx="243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F8"/>
                </a:solidFill>
              </a:rPr>
              <a:t>has name usage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3017520"/>
            <a:ext cx="2331720" cy="457200"/>
          </a:xfrm>
          <a:prstGeom prst="rect">
            <a:avLst/>
          </a:prstGeom>
          <a:solidFill>
            <a:srgbClr val="1A1D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3017520"/>
            <a:ext cx="2697480" cy="457200"/>
          </a:xfrm>
          <a:prstGeom prst="rect">
            <a:avLst/>
          </a:prstGeom>
          <a:solidFill>
            <a:srgbClr val="1A1D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3017520"/>
            <a:ext cx="2514600" cy="457200"/>
          </a:xfrm>
          <a:prstGeom prst="rect">
            <a:avLst/>
          </a:prstGeom>
          <a:solidFill>
            <a:srgbClr val="1A1D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52900" y="3068320"/>
            <a:ext cx="2255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GPT-5.4/cq-only/2025-149-01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0340" y="3068320"/>
            <a:ext cx="2621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CAF7D"/>
                </a:solidFill>
              </a:rPr>
              <a:t>relational database, table, column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73540" y="3068320"/>
            <a:ext cx="243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F8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3502152"/>
            <a:ext cx="2331720" cy="457200"/>
          </a:xfrm>
          <a:prstGeom prst="rect">
            <a:avLst/>
          </a:prstGeom>
          <a:solidFill>
            <a:srgbClr val="0F1117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92240" y="3502152"/>
            <a:ext cx="2697480" cy="457200"/>
          </a:xfrm>
          <a:prstGeom prst="rect">
            <a:avLst/>
          </a:prstGeom>
          <a:solidFill>
            <a:srgbClr val="0F1117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3502152"/>
            <a:ext cx="2514600" cy="457200"/>
          </a:xfrm>
          <a:prstGeom prst="rect">
            <a:avLst/>
          </a:prstGeom>
          <a:solidFill>
            <a:srgbClr val="0F1117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52900" y="3552952"/>
            <a:ext cx="2255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Gemini/scenario-cq/2023-133-01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0340" y="3552952"/>
            <a:ext cx="2621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CAF7D"/>
                </a:solidFill>
              </a:rPr>
              <a:t>event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73540" y="3552952"/>
            <a:ext cx="243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F8"/>
                </a:solidFill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3986784"/>
            <a:ext cx="2331720" cy="457200"/>
          </a:xfrm>
          <a:prstGeom prst="rect">
            <a:avLst/>
          </a:prstGeom>
          <a:solidFill>
            <a:srgbClr val="1A1D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3986784"/>
            <a:ext cx="2697480" cy="457200"/>
          </a:xfrm>
          <a:prstGeom prst="rect">
            <a:avLst/>
          </a:prstGeom>
          <a:solidFill>
            <a:srgbClr val="1A1D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35440" y="3986784"/>
            <a:ext cx="2514600" cy="457200"/>
          </a:xfrm>
          <a:prstGeom prst="rect">
            <a:avLst/>
          </a:prstGeom>
          <a:solidFill>
            <a:srgbClr val="1A1D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52900" y="4037584"/>
            <a:ext cx="2255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Gemini/cq-only/2025-151-01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0340" y="4037584"/>
            <a:ext cx="2621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CAF7D"/>
                </a:solidFill>
              </a:rPr>
              <a:t>evaluation request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73540" y="4037584"/>
            <a:ext cx="243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F8"/>
                </a:solidFill>
              </a:rPr>
              <a:t>requested action, issued by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32004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B4F8"/>
                </a:solidFill>
              </a:rPr>
              <a:t>Property Label Ratio by Model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5585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8EAF0"/>
                </a:solidFill>
              </a:rPr>
              <a:t>Gemini 3.1 Pro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51760" y="3520440"/>
            <a:ext cx="3200400" cy="36576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651760" y="3520440"/>
            <a:ext cx="2926080" cy="365760"/>
          </a:xfrm>
          <a:prstGeom prst="rect">
            <a:avLst/>
          </a:prstGeom>
          <a:solidFill>
            <a:srgbClr val="4CAF7D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28640" y="35585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EAF0"/>
                </a:solidFill>
              </a:rPr>
              <a:t>0.914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0157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8EAF0"/>
                </a:solidFill>
              </a:rPr>
              <a:t>Llama-3.1-8B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51760" y="3977640"/>
            <a:ext cx="3200400" cy="36576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651760" y="3977640"/>
            <a:ext cx="2656935" cy="365760"/>
          </a:xfrm>
          <a:prstGeom prst="rect">
            <a:avLst/>
          </a:prstGeom>
          <a:solidFill>
            <a:srgbClr val="4CAF7D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59495" y="40157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EAF0"/>
                </a:solidFill>
              </a:rPr>
              <a:t>0.830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4729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8EAF0"/>
                </a:solidFill>
              </a:rPr>
              <a:t>Llama-2-70B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51760" y="4434840"/>
            <a:ext cx="3200400" cy="36576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651760" y="4434840"/>
            <a:ext cx="2295939" cy="365760"/>
          </a:xfrm>
          <a:prstGeom prst="rect">
            <a:avLst/>
          </a:prstGeom>
          <a:solidFill>
            <a:srgbClr val="4CAF7D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98499" y="44729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EAF0"/>
                </a:solidFill>
              </a:rPr>
              <a:t>0.717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9301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8EAF0"/>
                </a:solidFill>
              </a:rPr>
              <a:t>Mistral-7B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51760" y="4892040"/>
            <a:ext cx="3200400" cy="36576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651760" y="4892040"/>
            <a:ext cx="3090041" cy="365760"/>
          </a:xfrm>
          <a:prstGeom prst="rect">
            <a:avLst/>
          </a:prstGeom>
          <a:solidFill>
            <a:srgbClr val="4CAF7D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92601" y="49301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EAF0"/>
                </a:solidFill>
              </a:rPr>
              <a:t>0.966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53873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8EAF0"/>
                </a:solidFill>
              </a:rPr>
              <a:t>GPT-5.4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51760" y="5349240"/>
            <a:ext cx="3200400" cy="36576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651760" y="5349240"/>
            <a:ext cx="2831123" cy="365760"/>
          </a:xfrm>
          <a:prstGeom prst="rect">
            <a:avLst/>
          </a:prstGeom>
          <a:solidFill>
            <a:srgbClr val="4CAF7D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33683" y="53873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EAF0"/>
                </a:solidFill>
              </a:rPr>
              <a:t>0.885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6400800"/>
            <a:ext cx="11247120" cy="347472"/>
          </a:xfrm>
          <a:prstGeom prst="rect">
            <a:avLst/>
          </a:prstGeom>
          <a:solidFill>
            <a:srgbClr val="1E180C"/>
          </a:solidFill>
          <a:ln w="25400">
            <a:solidFill>
              <a:srgbClr val="F0C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60" y="6477000"/>
            <a:ext cx="10972800" cy="19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class_label_ratio=1.000 for ALL models on ALL successful parses. The split metric reveals property annotation gaps.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02920" cy="32004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283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AB4F8"/>
                </a:solidFill>
              </a:rPr>
              <a:t>Summary &amp; Best Performing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2700"/>
          </a:xfrm>
          <a:prstGeom prst="rect">
            <a:avLst/>
          </a:prstGeom>
          <a:solidFill>
            <a:srgbClr val="23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5029200" cy="5029200"/>
          </a:xfrm>
          <a:prstGeom prst="rect">
            <a:avLst/>
          </a:prstGeom>
          <a:solidFill>
            <a:srgbClr val="07160E"/>
          </a:solidFill>
          <a:ln w="25400">
            <a:solidFill>
              <a:srgbClr val="2A6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7D"/>
                </a:solidFill>
              </a:rPr>
              <a:t>★  Best Overall Reliability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EAF0"/>
                </a:solidFill>
              </a:rPr>
              <a:t>Gemini 3.1 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Parse success: 100.0% (highest across all configs)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100% parse rate on EVERY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614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Best CQ coverage and Combined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4553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Trade-off: highest hallucination (0.623)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2958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• Adds unsupported domain knowledge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60520"/>
            <a:ext cx="2395728" cy="1920240"/>
          </a:xfrm>
          <a:prstGeom prst="rect">
            <a:avLst/>
          </a:prstGeom>
          <a:solidFill>
            <a:srgbClr val="101006"/>
          </a:solidFill>
          <a:ln w="25400">
            <a:solidFill>
              <a:srgbClr val="80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25196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60"/>
                </a:solidFill>
              </a:rPr>
              <a:t>Faithfulness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5537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AF0"/>
                </a:solidFill>
              </a:rPr>
              <a:t>Llama-3.1-8B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8646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• Hallucination: 0.345 (lowest)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212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• Best open-source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5595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• Recommended: scenario-cq-reasoning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0088" y="4160520"/>
            <a:ext cx="2423160" cy="1920240"/>
          </a:xfrm>
          <a:prstGeom prst="rect">
            <a:avLst/>
          </a:prstGeom>
          <a:solidFill>
            <a:srgbClr val="100D06"/>
          </a:solidFill>
          <a:ln w="25400">
            <a:solidFill>
              <a:srgbClr val="805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425196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B4F8"/>
                </a:solidFill>
              </a:rPr>
              <a:t>Best GT 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0672" y="45537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AF0"/>
                </a:solidFill>
              </a:rPr>
              <a:t>Gemini 3.1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0672" y="48646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• Combined F1: 0.125 (best)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0672" y="5212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• Closest to expert ontology vocab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55595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• High CQ coverage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1115568"/>
            <a:ext cx="457200" cy="594360"/>
          </a:xfrm>
          <a:prstGeom prst="rect">
            <a:avLst/>
          </a:prstGeom>
          <a:solidFill>
            <a:srgbClr val="09150F"/>
          </a:solidFill>
          <a:ln w="12700">
            <a:solidFill>
              <a:srgbClr val="193A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1217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CAF7D"/>
                </a:solidFill>
              </a:rPr>
              <a:t>F1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1217168"/>
            <a:ext cx="5349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Model size ≠ performance. Llama-3.1-8B (8B) beats Llama-2-70B (70B) on parse reliability.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1828800"/>
            <a:ext cx="457200" cy="594360"/>
          </a:xfrm>
          <a:prstGeom prst="rect">
            <a:avLst/>
          </a:prstGeom>
          <a:solidFill>
            <a:srgbClr val="09150F"/>
          </a:solidFill>
          <a:ln w="12700">
            <a:solidFill>
              <a:srgbClr val="193A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193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CAF7D"/>
                </a:solidFill>
              </a:rPr>
              <a:t>F2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2" y="1930400"/>
            <a:ext cx="5349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Gemini 3.1 Pro: 100% parse, best F1 &amp; CQ coverage — but highest hallucination (0.623).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2542032"/>
            <a:ext cx="457200" cy="594360"/>
          </a:xfrm>
          <a:prstGeom prst="rect">
            <a:avLst/>
          </a:prstGeom>
          <a:solidFill>
            <a:srgbClr val="1E180C"/>
          </a:solidFill>
          <a:ln w="12700">
            <a:solidFill>
              <a:srgbClr val="50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26436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C060"/>
                </a:solidFill>
              </a:rPr>
              <a:t>F3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2643632"/>
            <a:ext cx="5349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class_label_ratio=1.0 for all models. property_label_ratio exposes hidden gaps (Llama-2: 0.717).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3255264"/>
            <a:ext cx="457200" cy="594360"/>
          </a:xfrm>
          <a:prstGeom prst="rect">
            <a:avLst/>
          </a:prstGeom>
          <a:solidFill>
            <a:srgbClr val="11161F"/>
          </a:solidFill>
          <a:ln w="12700">
            <a:solidFill>
              <a:srgbClr val="2E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33568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AB4F8"/>
                </a:solidFill>
              </a:rPr>
              <a:t>F4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3356864"/>
            <a:ext cx="5349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scenario-cq-reasoning: lowest hallucination (0.461 avg), best faithfulness-quality trade-off.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0" y="3968496"/>
            <a:ext cx="457200" cy="594360"/>
          </a:xfrm>
          <a:prstGeom prst="rect">
            <a:avLst/>
          </a:prstGeom>
          <a:solidFill>
            <a:srgbClr val="1C0D0D"/>
          </a:solidFill>
          <a:ln w="12700">
            <a:solidFill>
              <a:srgbClr val="4A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40700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6C6C"/>
                </a:solidFill>
              </a:rPr>
              <a:t>F5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1072" y="4070096"/>
            <a:ext cx="5349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BLOOMZ-7B1: 0% parse across all 5 configs. Instruction-tuned BLOOM cannot produce valid Turtle.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4681728"/>
            <a:ext cx="457200" cy="594360"/>
          </a:xfrm>
          <a:prstGeom prst="rect">
            <a:avLst/>
          </a:prstGeom>
          <a:solidFill>
            <a:srgbClr val="111214"/>
          </a:solidFill>
          <a:ln w="12700">
            <a:solidFill>
              <a:srgbClr val="2D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0" y="47833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892A4"/>
                </a:solidFill>
              </a:rPr>
              <a:t>F6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1072" y="4783328"/>
            <a:ext cx="5349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Combined F1 universally low (0.06–0.13): LLMs diverge in naming from expert ontologists.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6400800"/>
            <a:ext cx="11247120" cy="347472"/>
          </a:xfrm>
          <a:prstGeom prst="rect">
            <a:avLst/>
          </a:prstGeom>
          <a:solidFill>
            <a:srgbClr val="09150F"/>
          </a:solidFill>
          <a:ln w="25400"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6477000"/>
            <a:ext cx="10972800" cy="19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Recommendations — Proprietary: Gemini + scenario-only (structural) / GPT + scenario-cq-constraints (functional). Open-source for human eval: Llama-3.1-8B + scenario-only (structural track) and Llama-2-70B + cq-only (functional track, 0.534).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
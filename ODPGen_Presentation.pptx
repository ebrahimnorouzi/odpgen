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183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8EBF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8EBF"/>
                </a:solidFill>
              </a:rPr>
              <a:t>RESEARCH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E8EAF0"/>
                </a:solidFill>
              </a:rPr>
              <a:t>ODPGen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892A4"/>
                </a:solidFill>
              </a:rPr>
              <a:t>Benchmarking Large Language Models on
Ontology Design Pattern Generation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456432"/>
            <a:ext cx="5029200" cy="19050"/>
          </a:xfrm>
          <a:prstGeom prst="rect">
            <a:avLst/>
          </a:prstGeom>
          <a:solidFill>
            <a:srgbClr val="6C8EBF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Models Evaluated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679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6 LLMs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611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Prompt Strategies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86791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5 Configurations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89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ODP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451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14 Benchmarks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389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Total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6451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AB4F8"/>
                </a:solidFill>
              </a:rPr>
              <a:t>364 Evaluated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46304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62763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8AB4F8"/>
                </a:solidFill>
              </a:rPr>
              <a:t>364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240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evaluated outputs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9720" y="146304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62763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8AB4F8"/>
                </a:solidFill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240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ODP scenarios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365760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382219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8AB4F8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34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prompt configs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3657600"/>
            <a:ext cx="228600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20" y="382219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8AB4F8"/>
                </a:solidFill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434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LLMs tested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6217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ODPGen  ·  Ontology Design Pattern Generation Benchmark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Overview &amp; Research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92A4"/>
                </a:solidFill>
              </a:rPr>
              <a:t>ODPGen evaluates how well LLMs generate Ontology Design Patterns (ODPs) from natural-language scenarios and competency questions — measuring syntactic validity, faithfulness, and semantic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3749039" cy="2377440"/>
          </a:xfrm>
          <a:prstGeom prst="rect">
            <a:avLst/>
          </a:prstGeom>
          <a:solidFill>
            <a:srgbClr val="1A1D2E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09928"/>
            <a:ext cx="3474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B4F8"/>
                </a:solidFill>
              </a:rPr>
              <a:t>What are ODPs?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84248"/>
            <a:ext cx="3474719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Reusable ontology templates encoding solutions to common modelling problems
• Building blocks for ontology engineering (like SW design patterns)
• Define classes, properties &amp; axioms grounded in a scenario
• Verified by Competency Questions (CQs) — must-answer queries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600200"/>
            <a:ext cx="7315200" cy="2377440"/>
          </a:xfrm>
          <a:prstGeom prst="rect">
            <a:avLst/>
          </a:prstGeom>
          <a:solidFill>
            <a:srgbClr val="1A1D2E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709928"/>
            <a:ext cx="7040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B4F8"/>
                </a:solidFill>
              </a:rPr>
              <a:t>Research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984248"/>
            <a:ext cx="7040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RQ1  How well can LLMs generate valid OWL/Turtle from natural-language scenarios?
• RQ2  How logically consistent and error-free are the outputs?
• RQ3  What is the impact of prompting strategy (CQs, reasoning, constraints)?
• RQ4  How faithful are the outputs to the ground-truth scenario?
• RQ5  Can models generalize to recently published ODPs unseen during training?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114800"/>
            <a:ext cx="11247120" cy="548640"/>
          </a:xfrm>
          <a:prstGeom prst="rect">
            <a:avLst/>
          </a:prstGeom>
          <a:solidFill>
            <a:srgbClr val="12171F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4206240"/>
            <a:ext cx="10991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Core hypothesis: Structured prompting (CQs + reasoning or self-validation) should improve faithfulness — but may trade off against syntactic correctness for weaker models.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4632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0109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8AB4F8"/>
                </a:solidFill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23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LLMs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484632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50109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4CAF7D"/>
                </a:solidFill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623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Prompt Configs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84632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50109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0C060"/>
                </a:solidFill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623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Scenarios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0" y="4846320"/>
            <a:ext cx="2560320" cy="173736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50109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B39DDB"/>
                </a:solidFill>
              </a:rPr>
              <a:t>364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5623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2A4"/>
                </a:solidFill>
              </a:rPr>
              <a:t>Runs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Dataset — 14 ODP Scenarios (2023–2026)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Scenarios sourced from published ODP papers, each pairing a domain description, Competency Questions, and a ground-truth OWL ontology.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73736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53619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Scenario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1508760"/>
            <a:ext cx="406908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91080" y="153619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Domain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508760"/>
            <a:ext cx="123444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5880" y="1536192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CQs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508760"/>
            <a:ext cx="146304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6040" y="15361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Year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508760"/>
            <a:ext cx="132588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4800" y="153619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Status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0" y="1508760"/>
            <a:ext cx="1188720" cy="292608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6400" y="153619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828800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40280" y="1828800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1828800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5240" y="1828800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828800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515600" y="1828800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" y="1879600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2023-133-01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91080" y="1879600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Causal Bayesian Networks (Sprinkler)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5880" y="1879600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6040" y="1879600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4800" y="1879600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144268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40280" y="2144268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55080" y="2144268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35240" y="2144268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4000" y="2144268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515600" y="2144268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8000" y="2195068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2023-133-02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91080" y="2195068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Causal Bayesian Networks (Asthma)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5880" y="2195068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6040" y="2195068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94800" y="2195068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459736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40280" y="2459736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55080" y="2459736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35240" y="2459736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0" y="2459736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515600" y="2459736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8000" y="2510536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2023-134-01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91080" y="2510536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Data Governance / SOLID Pods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5880" y="2510536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6040" y="2510536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94800" y="2510536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2775204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0280" y="2775204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55080" y="2775204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35240" y="2775204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44000" y="2775204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515600" y="2775204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000" y="2826004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2023-134-02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91080" y="2826004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GDPR Compliance Policies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5880" y="2826004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6040" y="2826004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94800" y="2826004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3090672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240280" y="3090672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55080" y="3090672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35240" y="3090672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0" y="3090672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15600" y="3090672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8000" y="3141472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2023-134-03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91080" y="3141472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Access Control / ARGOS Database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5880" y="3141472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6040" y="3141472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94800" y="3141472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3406140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240280" y="3406140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55080" y="3406140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635240" y="3406140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44000" y="3406140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515600" y="3406140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8000" y="3456940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2023-135-01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91080" y="3456940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Role-Dependent Naming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05880" y="3456940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86040" y="3456940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94800" y="3456940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AF7D"/>
                </a:solidFill>
              </a:rPr>
              <a:t>Likely Seen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3721608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240280" y="3721608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55080" y="3721608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635240" y="3721608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144000" y="3721608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15600" y="3721608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08000" y="3772408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2024-145-01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91080" y="3772408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Maritime / AISHIP Vessel Data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5880" y="3772408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86040" y="3772408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94800" y="3772408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C060"/>
                </a:solidFill>
              </a:rPr>
              <a:t>Borderline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4037076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240280" y="4037076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355080" y="4037076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635240" y="4037076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144000" y="4037076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15600" y="4037076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08000" y="4087876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2025-147-01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291080" y="4087876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Legal Ontology (Indian Courts)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05880" y="4087876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86040" y="4087876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94800" y="4087876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4352544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240280" y="4352544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355080" y="4352544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635240" y="4352544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144000" y="4352544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515600" y="4352544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08000" y="4403344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2025-149-01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91080" y="4403344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Temporal Indirection (Finance)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05880" y="4403344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686040" y="4403344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194800" y="4403344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7200" y="4668012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240280" y="4668012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355080" y="4668012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635240" y="4668012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144000" y="4668012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515600" y="4668012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08000" y="4718812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2025-150-01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291080" y="4718812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MQTT Protocol Semantics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5880" y="4718812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686040" y="4718812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94800" y="4718812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57200" y="4983480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240280" y="4983480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355080" y="4983480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635240" y="4983480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9144000" y="4983480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0515600" y="4983480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8000" y="5034280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2025-151-01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291080" y="5034280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Circular Economy (Product Lifecycle)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05880" y="5034280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686040" y="5034280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94800" y="5034280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5298948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240280" y="5298948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355080" y="5298948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635240" y="5298948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144000" y="5298948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0515600" y="5298948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08000" y="5349748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2025-151-02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291080" y="5349748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Causality in Environmental Policy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405880" y="5349748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686040" y="5349748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194800" y="5349748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57200" y="5614416"/>
            <a:ext cx="173736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240280" y="5614416"/>
            <a:ext cx="40690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355080" y="5614416"/>
            <a:ext cx="12344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635240" y="5614416"/>
            <a:ext cx="146304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144000" y="5614416"/>
            <a:ext cx="132588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0515600" y="5614416"/>
            <a:ext cx="1188720" cy="310896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08000" y="5665216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2025-153-01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291080" y="5665216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Governance Roles &amp; Responsibilities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405880" y="5665216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86040" y="5665216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194800" y="5665216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57200" y="5929884"/>
            <a:ext cx="173736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240280" y="5929884"/>
            <a:ext cx="40690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6355080" y="5929884"/>
            <a:ext cx="12344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7635240" y="5929884"/>
            <a:ext cx="146304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144000" y="5929884"/>
            <a:ext cx="132588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0515600" y="5929884"/>
            <a:ext cx="1188720" cy="310896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8000" y="5980684"/>
            <a:ext cx="168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2026-155-01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291080" y="5980684"/>
            <a:ext cx="4018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State of the World Pattern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405880" y="5980684"/>
            <a:ext cx="1183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~11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686040" y="5980684"/>
            <a:ext cx="1412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4"/>
                </a:solidFill>
              </a:rPr>
              <a:t>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94800" y="5980684"/>
            <a:ext cx="1275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06C6C"/>
                </a:solidFill>
              </a:rPr>
              <a:t>Plausible Unseen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6382512"/>
            <a:ext cx="11247120" cy="384048"/>
          </a:xfrm>
          <a:prstGeom prst="rect">
            <a:avLst/>
          </a:prstGeom>
          <a:solidFill>
            <a:srgbClr val="282010"/>
          </a:solidFill>
          <a:ln w="2540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1792" y="6473952"/>
            <a:ext cx="10991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9 of 14 scenarios are plausible_unseen by most models — enabling generalization vs. memorization analysis. Unseen status is determined by comparing ODP publication date to model training cutoff.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Models Evaluated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50876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8000" y="114300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115568"/>
            <a:ext cx="2788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62480" y="1143000"/>
            <a:ext cx="2788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Checkpoint /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115568"/>
            <a:ext cx="105156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712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Parameters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115568"/>
            <a:ext cx="1874519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4400" y="1143000"/>
            <a:ext cx="18745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Type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1115568"/>
            <a:ext cx="14173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4640" y="114300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Cutoff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0" y="1115568"/>
            <a:ext cx="109728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7680" y="114300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Configs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463040"/>
            <a:ext cx="11247120" cy="713232"/>
          </a:xfrm>
          <a:prstGeom prst="rect">
            <a:avLst/>
          </a:prstGeom>
          <a:solidFill>
            <a:srgbClr val="120909"/>
          </a:solidFill>
          <a:ln w="12700">
            <a:solidFill>
              <a:srgbClr val="4A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1564640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6C6C"/>
                </a:solidFill>
              </a:rPr>
              <a:t>BLOOM-3B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7880" y="1564640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bigscience/bloom-3b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2520" y="1564640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3B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19800" y="1564640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Base (no RLHF)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0040" y="1564640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Jul 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3080" y="1564640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221992"/>
            <a:ext cx="11247120" cy="713232"/>
          </a:xfrm>
          <a:prstGeom prst="rect">
            <a:avLst/>
          </a:prstGeom>
          <a:solidFill>
            <a:srgbClr val="120909"/>
          </a:solidFill>
          <a:ln w="12700">
            <a:solidFill>
              <a:srgbClr val="4A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2323592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6C6C"/>
                </a:solidFill>
              </a:rPr>
              <a:t>BLOOMZ-7B1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7880" y="2323592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bigscience/bloomz-7b1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22520" y="2323592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19800" y="2323592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Instruction-tuned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40040" y="2323592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Jul 2022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3080" y="2323592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980944"/>
            <a:ext cx="11247120" cy="713232"/>
          </a:xfrm>
          <a:prstGeom prst="rect">
            <a:avLst/>
          </a:prstGeom>
          <a:solidFill>
            <a:srgbClr val="141008"/>
          </a:solidFill>
          <a:ln w="12700">
            <a:solidFill>
              <a:srgbClr val="504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3400" y="3082544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60"/>
                </a:solidFill>
              </a:rPr>
              <a:t>Mistral-7B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7880" y="3082544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Mistral-7B-Instruct-v0.3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22520" y="3082544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7B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19800" y="3082544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Instruction-tuned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40040" y="3082544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2023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3080" y="3082544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060E0A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3400" y="3841496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Llama-3.1-8B 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87880" y="3841496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Llama-3.1-8B-Instruct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2520" y="3841496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8B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9800" y="3841496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Instruction-tuned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3841496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Dec 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03080" y="3841496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98848"/>
            <a:ext cx="11247120" cy="713232"/>
          </a:xfrm>
          <a:prstGeom prst="rect">
            <a:avLst/>
          </a:prstGeom>
          <a:solidFill>
            <a:srgbClr val="0B0F14"/>
          </a:solidFill>
          <a:ln w="12700">
            <a:solidFill>
              <a:srgbClr val="2E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" y="4600448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AB4F8"/>
                </a:solidFill>
              </a:rPr>
              <a:t>Llama-2-70B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87880" y="4600448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Llama-2-70b-chat-hf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22520" y="4600448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70B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19800" y="4600448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Chat (RLHF)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40040" y="4600448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Sep 2022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03080" y="4600448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257800"/>
            <a:ext cx="11247120" cy="713232"/>
          </a:xfrm>
          <a:prstGeom prst="rect">
            <a:avLst/>
          </a:prstGeom>
          <a:solidFill>
            <a:srgbClr val="0E0D12"/>
          </a:solidFill>
          <a:ln w="12700">
            <a:solidFill>
              <a:srgbClr val="3B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3400" y="5359400"/>
            <a:ext cx="143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39DDB"/>
                </a:solidFill>
              </a:rPr>
              <a:t>GPT-5.4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87880" y="5359400"/>
            <a:ext cx="271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OpenAI API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22520" y="5359400"/>
            <a:ext cx="97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Proprietary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19800" y="5359400"/>
            <a:ext cx="17983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RLHF + API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0040" y="5359400"/>
            <a:ext cx="134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~2024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03080" y="5359400"/>
            <a:ext cx="1021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6126480"/>
            <a:ext cx="11247120" cy="594360"/>
          </a:xfrm>
          <a:prstGeom prst="rect">
            <a:avLst/>
          </a:prstGeom>
          <a:solidFill>
            <a:srgbClr val="12171F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1792" y="6217920"/>
            <a:ext cx="109910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Execution: Open-source models via Hugging Face Transformers on GPU (4-bit quant for 70B). GPT-5.4 via OpenAI API. Temperature = 0.0, max_new_tokens = 1024 for all runs.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Prompting Strategies — 5 Configurations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324612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25296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B4F8"/>
                </a:solidFill>
              </a:rPr>
              <a:t>1. scenario-only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2971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Model receives only the domain scenario text
• Must infer modeling scope from narrative alone
• Highest scenario vocabulary coverage (0.440)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1115568"/>
            <a:ext cx="324612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199" y="1225296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B4F8"/>
                </a:solidFill>
              </a:rPr>
              <a:t>2. cq-only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199" y="1499616"/>
            <a:ext cx="2971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Model receives only the Competency Questions
• Highest CQ coverage (0.844 avg)
• Also highest hallucination ratio (0.548)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115568"/>
            <a:ext cx="466344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1225296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7D"/>
                </a:solidFill>
              </a:rPr>
              <a:t>3. scenario-cq  [Balanced]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499616"/>
            <a:ext cx="4389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Both scenario text and CQs provided
• Requires scenario→axiom &amp; CQ→axiom mapping
• Best balance of CQ + scenario coverage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324612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10128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60"/>
                </a:solidFill>
              </a:rPr>
              <a:t>4. scenario-cq-constraints  [Validation]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84448"/>
            <a:ext cx="2971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Adds 6-item self-validation checklist
• Syntax, domain/range, coherence, scope checks
• Lowest hallucination after reasoning (0.392)
• Lowest parse success (29%) — extra text confuses parsers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3200400"/>
            <a:ext cx="7589520" cy="1920240"/>
          </a:xfrm>
          <a:prstGeom prst="rect">
            <a:avLst/>
          </a:prstGeom>
          <a:solidFill>
            <a:srgbClr val="1A1D2E"/>
          </a:solidFill>
          <a:ln w="19050">
            <a:solidFill>
              <a:srgbClr val="232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331012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7D"/>
                </a:solidFill>
              </a:rPr>
              <a:t>5. scenario-cq-reasoning  [Best Faithfulness]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584448"/>
            <a:ext cx="7315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6-step internal reasoning: extract requirements → propose classes →
•   draft axioms → verify CQs → remove unsupported → output ODP
• Lowest hallucination overall: 0.367
• Best scenario coverage among CQ-aware configs (0.379)
• Good CQ coverage: 0.748 on successful parses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291072"/>
            <a:ext cx="11247120" cy="475488"/>
          </a:xfrm>
          <a:prstGeom prst="rect">
            <a:avLst/>
          </a:prstGeom>
          <a:solidFill>
            <a:srgbClr val="12171F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6382512"/>
            <a:ext cx="10991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All prompts use standard prefixes (owl:, rdf:, rdfs:, xsd:, :) and require a mandatory owl:Ontology header with rdfs:label and rdfs:comment.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Evaluation Methodology — 4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5577840" cy="2286000"/>
          </a:xfrm>
          <a:prstGeom prst="rect">
            <a:avLst/>
          </a:prstGeom>
          <a:solidFill>
            <a:srgbClr val="1A1D2E"/>
          </a:solidFill>
          <a:ln w="19050">
            <a:solidFill>
              <a:srgbClr val="242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2529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8EBF"/>
                </a:solidFill>
              </a:rPr>
              <a:t>Layer 1 — Formal / Syntactic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parse_success — Valid Turtle syntax?
• triple_count — Total RDF triples
• ontology_declared — owl:Ontology header?
• label/comment_coverage_ratio
• domain_range_ratio — rdfs:domain &amp; range
• class_count, property_count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115568"/>
            <a:ext cx="5577840" cy="2286000"/>
          </a:xfrm>
          <a:prstGeom prst="rect">
            <a:avLst/>
          </a:prstGeom>
          <a:solidFill>
            <a:srgbClr val="1A1D2E"/>
          </a:solidFill>
          <a:ln w="1905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2529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7D"/>
                </a:solidFill>
              </a:rPr>
              <a:t>Layer 2 — Scenario Faithfulness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499616"/>
            <a:ext cx="5303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cq_coverage_ratio — CQs answerable (token overlap)
• cq_mean_token_recall — avg recall per CQ
• scenario_coverage_ratio — scenario vocab in ontology
• hallucination_ratio — unsupported vocab fraction
• ontology_vocab_size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38728"/>
            <a:ext cx="5577840" cy="2286000"/>
          </a:xfrm>
          <a:prstGeom prst="rect">
            <a:avLst/>
          </a:prstGeom>
          <a:solidFill>
            <a:srgbClr val="1A1D2E"/>
          </a:solidFill>
          <a:ln w="19050">
            <a:solidFill>
              <a:srgbClr val="504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6484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60"/>
                </a:solidFill>
              </a:rPr>
              <a:t>Layer 3 — Semantic Similarity (vs Ground Truth)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922776"/>
            <a:ext cx="5303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class_name_precision / recall / F1
• property_name_precision / recall / F1
• class_jaccard, property_jaccard
• combined_f1 — harmonic mean of cls+prop F1
• matched_class/property_names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3538728"/>
            <a:ext cx="5577840" cy="2286000"/>
          </a:xfrm>
          <a:prstGeom prst="rect">
            <a:avLst/>
          </a:prstGeom>
          <a:solidFill>
            <a:srgbClr val="1A1D2E"/>
          </a:solidFill>
          <a:ln w="19050">
            <a:solidFill>
              <a:srgbClr val="3B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6484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39DDB"/>
                </a:solidFill>
              </a:rPr>
              <a:t>Layer 4 — Feasibility &amp; Unseen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22776"/>
            <a:ext cx="5303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(model, ODP) labelled plausible_unseen or likely_seen
• Compares ODP pub date vs. model training cutoff
• Confidence: high / medium / low
• Enables generalization vs. memorization analysis
• Future: human eval — Correctness, Completeness,
•   Clarity/Reusability (1–5 scale)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99632"/>
            <a:ext cx="11247120" cy="566928"/>
          </a:xfrm>
          <a:prstGeom prst="rect">
            <a:avLst/>
          </a:prstGeom>
          <a:solidFill>
            <a:srgbClr val="12171F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6291072"/>
            <a:ext cx="109910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Pipeline: evaluate_outputs.py → eval/formal_quality.py + eval/faithfulness.py + eval/similarity.py → results/summary.csv  (364 rows × 42 columns)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Raw Output Examples — Scenario 2023-133-01 (Causal Bayesian Network)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92A4"/>
                </a:solidFill>
              </a:rPr>
              <a:t>Scenario: "Model a causal Bayesian network over events (RainySeason, SprinklerOn, Raining, WetPavement, SlipperyPavement) with weighted causal edges and mediators as an ODP."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3703320" cy="2331720"/>
          </a:xfrm>
          <a:prstGeom prst="rect">
            <a:avLst/>
          </a:prstGeom>
          <a:solidFill>
            <a:srgbClr val="050C08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584960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GPT-5.4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610360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SUCCESS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0700" y="1856232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8800" y="1883664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:Event a owl:Class .
:CausalRelation a owl:Class .
:MediatedCausalRelation
  rdfs:subClassOf :CausalRelation .
:hasCause a owl:ObjectProperty .
:effectWeight a owl:DatatypeProperty .
# Full mapping tables included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383279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Valid Turtle · Full class hierarchy · CQ→axiom mapping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508760"/>
            <a:ext cx="3703320" cy="2331720"/>
          </a:xfrm>
          <a:prstGeom prst="rect">
            <a:avLst/>
          </a:prstGeom>
          <a:solidFill>
            <a:srgbClr val="050C08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5320" y="1584960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Llama-3.1-8B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1610360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SUCCESS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52620" y="1856232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0720" y="1883664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:Event a owl:Class .
:RainySeasonEvent rdfs:subClassOf :Event .
:WetPavement rdfs:subClassOf :Event .
:Cause a owl:ObjectProperty .
:Weight a owl:DatatypeProperty .
# Causal instances with weights 0.6, 0.8, 0.9, 0.7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383279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Valid Turtle · Instance-level causal chain · Lowest hallucination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508760"/>
            <a:ext cx="3703320" cy="2331720"/>
          </a:xfrm>
          <a:prstGeom prst="rect">
            <a:avLst/>
          </a:prstGeom>
          <a:solidFill>
            <a:srgbClr val="050C08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7240" y="1584960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7D"/>
                </a:solidFill>
              </a:rPr>
              <a:t>Llama-2-70B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1610360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SUCCESS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4540" y="1856232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2640" y="1883664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:Event a owl:Class .
:RainySeason rdfs:subClassOf :Event .
:SprinklerOn rdfs:subClassOf :Event .
:CausalRelation a owl:ObjectProperty .
:EffectWeight a owl:DatatypeProperty ;
  rdfs:range xsd:decimal 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7240" y="3383279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Valid Turtle · Simpler structure · Scenario mapping section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977639"/>
            <a:ext cx="3703320" cy="2331720"/>
          </a:xfrm>
          <a:prstGeom prst="rect">
            <a:avLst/>
          </a:prstGeom>
          <a:solidFill>
            <a:srgbClr val="110D06"/>
          </a:solidFill>
          <a:ln w="12700">
            <a:solidFill>
              <a:srgbClr val="504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4053839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C060"/>
                </a:solidFill>
              </a:rPr>
              <a:t>Mistral-7B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4079239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C060"/>
                </a:solidFill>
              </a:rPr>
              <a:t>PARTIAL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0700" y="4325111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8800" y="4352543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:Event a owl:Class .
:CausalLink a owl:Class .
:causes a owl:ObjectProperty .
:effectWeight a owl:DatatypeProperty .
# Uses Manchester-style 'some' restriction
# → Parser fails on 71% of scenario-cq runs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5852158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Mixes Manchester syntax in Turtle → parse failures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3977639"/>
            <a:ext cx="3703320" cy="2331720"/>
          </a:xfrm>
          <a:prstGeom prst="rect">
            <a:avLst/>
          </a:prstGeom>
          <a:solidFill>
            <a:srgbClr val="100707"/>
          </a:solidFill>
          <a:ln w="12700">
            <a:solidFill>
              <a:srgbClr val="4A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65320" y="4053839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6C6C"/>
                </a:solidFill>
              </a:rPr>
              <a:t>BLOOMZ-7B1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079239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06C6C"/>
                </a:solidFill>
              </a:rPr>
              <a:t>FAIL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52620" y="4325111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0720" y="4352543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"What if the pavement is wet, how would
it effect the pavement being slippery?"
-- Model rephrases the CQ instead of
   generating an ontology --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5320" y="5852158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0% parse rate · Outputs natural language only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3977639"/>
            <a:ext cx="3703320" cy="2331720"/>
          </a:xfrm>
          <a:prstGeom prst="rect">
            <a:avLst/>
          </a:prstGeom>
          <a:solidFill>
            <a:srgbClr val="100707"/>
          </a:solidFill>
          <a:ln w="12700">
            <a:solidFill>
              <a:srgbClr val="4A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7240" y="4053839"/>
            <a:ext cx="2941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6C6C"/>
                </a:solidFill>
              </a:rPr>
              <a:t>BLOOM-3B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4079239"/>
            <a:ext cx="749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06C6C"/>
                </a:solidFill>
              </a:rPr>
              <a:t>FAIL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84540" y="4325111"/>
            <a:ext cx="3576320" cy="1463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22640" y="4352543"/>
            <a:ext cx="3500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3C8D8"/>
                </a:solidFill>
              </a:rPr>
              <a:t>"If the pavement is wet, the pavement is wet.
If the pavement is wet, the pavement is not wet.
If the pavement is not wet, the pavement is wet…"
-- Repetitive hallucinations --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7240" y="5852158"/>
            <a:ext cx="3550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2A4"/>
                </a:solidFill>
              </a:rPr>
              <a:t>→ Base model · No instruction following · Degenerate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Results — Parse Success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Parse success is the primary gate metric — an ontology must be valid Turtle before any quality metrics apply.  Total: 364 runs.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AB4F8"/>
                </a:solidFill>
              </a:rPr>
              <a:t>By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118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Llama-3.1-8B-Instruct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783080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783080"/>
            <a:ext cx="4014764" cy="402336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684" y="1821180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75.7%  (53/70)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8810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Llama-2-70B-chat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2350008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2350008"/>
            <a:ext cx="3484412" cy="402336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3332" y="2388108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65.7%  (46/70)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55036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Mistral-7B-Instruct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2916936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0" y="2916936"/>
            <a:ext cx="2195657" cy="402336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4577" y="2955036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41.4%  (29/70)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2196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GPT-5.4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3483864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0" y="3483864"/>
            <a:ext cx="1967605" cy="402336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6525" y="3521964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37.1%  (26/70)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08889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BLOOMZ-7B1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4050792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0" y="4050792"/>
            <a:ext cx="25400" cy="402336"/>
          </a:xfrm>
          <a:prstGeom prst="rect">
            <a:avLst/>
          </a:prstGeom>
          <a:solidFill>
            <a:srgbClr val="E06C6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4320" y="408889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0%  (0/70)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5582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BLOOM-3B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4617720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0" y="4617720"/>
            <a:ext cx="25400" cy="402336"/>
          </a:xfrm>
          <a:prstGeom prst="rect">
            <a:avLst/>
          </a:prstGeom>
          <a:solidFill>
            <a:srgbClr val="E06C6C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14320" y="4655820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0%  (0/14)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4447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AB4F8"/>
                </a:solidFill>
              </a:rPr>
              <a:t>By Configuration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82118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cq-only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1783080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1783080"/>
            <a:ext cx="3182112" cy="402336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914632" y="1821180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60.0%  (42/70)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38810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scenario-only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0" y="2350008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86800" y="2350008"/>
            <a:ext cx="2726009" cy="402336"/>
          </a:xfrm>
          <a:prstGeom prst="rect">
            <a:avLst/>
          </a:prstGeom>
          <a:solidFill>
            <a:srgbClr val="4CAF7D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58529" y="2388108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51.4%  (36/70)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55036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scenario-cq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2916936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86800" y="2916936"/>
            <a:ext cx="2084283" cy="402336"/>
          </a:xfrm>
          <a:prstGeom prst="rect">
            <a:avLst/>
          </a:prstGeom>
          <a:solidFill>
            <a:srgbClr val="8AB4F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816803" y="2955036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39.3%  (33/84)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52196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scenario-cq-reasoning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86800" y="3483864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86800" y="3483864"/>
            <a:ext cx="1744858" cy="402336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77378" y="3521964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32.9%  (23/70)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08889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E8EAF0"/>
                </a:solidFill>
              </a:rPr>
              <a:t>scenario-cq-constraints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86800" y="4050792"/>
            <a:ext cx="5303520" cy="402336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86800" y="4050792"/>
            <a:ext cx="1516806" cy="402336"/>
          </a:xfrm>
          <a:prstGeom prst="rect">
            <a:avLst/>
          </a:prstGeom>
          <a:solidFill>
            <a:srgbClr val="F0C06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49326" y="408889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AF0"/>
                </a:solidFill>
              </a:rPr>
              <a:t>28.6%  (20/70)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349240"/>
            <a:ext cx="11247120" cy="621792"/>
          </a:xfrm>
          <a:prstGeom prst="rect">
            <a:avLst/>
          </a:prstGeom>
          <a:solidFill>
            <a:srgbClr val="282010"/>
          </a:solidFill>
          <a:ln w="2540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" y="5440680"/>
            <a:ext cx="109910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Insight: Complex prompts (constraints, reasoning) reduce parse success for smaller models — extra output structure interferes with Turtle extraction. GPT-5.4 scores 0% on reasoning/constraints configs, while Llama-3.1-8B maintains 64–71% even there.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6080760"/>
            <a:ext cx="11247120" cy="621792"/>
          </a:xfrm>
          <a:prstGeom prst="rect">
            <a:avLst/>
          </a:prstGeom>
          <a:solidFill>
            <a:srgbClr val="12171F"/>
          </a:solidFill>
          <a:ln w="2540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6172200"/>
            <a:ext cx="109910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GPT paradox: GPT-5.4 achieves 86% parse rate on cq-only (best in class!) but only 37% overall because complex prompts wrap the ontology in non-Turtle formatting the parser cannot extract.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Results — Quality Metrics (Successful Parses Only)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Metrics computed only when parse_success = True.  Average across all scenarios and successful configurations.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69164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149047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463040"/>
            <a:ext cx="109728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2660" y="14904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Parse 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463040"/>
            <a:ext cx="105156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5660" y="149047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Avg Classes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463040"/>
            <a:ext cx="109728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2940" y="14904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Avg Obj Props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1463040"/>
            <a:ext cx="114300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15940" y="149047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CQ Coverage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463040"/>
            <a:ext cx="114300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4660" y="149047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Scenario Cov.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79" y="1463040"/>
            <a:ext cx="118872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3379" y="149047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Hallucination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1463040"/>
            <a:ext cx="1097280" cy="301752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7820" y="14904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Combined F1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801368"/>
            <a:ext cx="9829800" cy="475488"/>
          </a:xfrm>
          <a:prstGeom prst="rect">
            <a:avLst/>
          </a:prstGeom>
          <a:solidFill>
            <a:srgbClr val="0F0C0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000" y="1902968"/>
            <a:ext cx="164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060"/>
                </a:solidFill>
              </a:rPr>
              <a:t>GPT-5.4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5360" y="1902968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37.1%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8360" y="1902968"/>
            <a:ext cx="1000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9.6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5640" y="1902968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4.8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8640" y="1902968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AF7D"/>
                </a:solidFill>
              </a:rPr>
              <a:t>0.804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7360" y="1902968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0.444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6079" y="1902968"/>
            <a:ext cx="113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6C6C"/>
                </a:solidFill>
              </a:rPr>
              <a:t>0.585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0520" y="1902968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AF7D"/>
                </a:solidFill>
              </a:rPr>
              <a:t>0.110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313432"/>
            <a:ext cx="9829800" cy="475488"/>
          </a:xfrm>
          <a:prstGeom prst="rect">
            <a:avLst/>
          </a:prstGeom>
          <a:solidFill>
            <a:srgbClr val="040A0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8000" y="2415032"/>
            <a:ext cx="164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AF7D"/>
                </a:solidFill>
              </a:rPr>
              <a:t>Llama-3.1-8B 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5360" y="2415032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AF7D"/>
                </a:solidFill>
              </a:rPr>
              <a:t>75.7%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8360" y="2415032"/>
            <a:ext cx="1000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10.5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5640" y="2415032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4.3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8640" y="2415032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0.729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7360" y="2415032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6C6C"/>
                </a:solidFill>
              </a:rPr>
              <a:t>0.335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6079" y="2415032"/>
            <a:ext cx="113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0.345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40520" y="2415032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0.071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825496"/>
            <a:ext cx="9829800" cy="475488"/>
          </a:xfrm>
          <a:prstGeom prst="rect">
            <a:avLst/>
          </a:prstGeom>
          <a:solidFill>
            <a:srgbClr val="080B0F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000" y="2927096"/>
            <a:ext cx="164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AB4F8"/>
                </a:solidFill>
              </a:rPr>
              <a:t>Llama-2-70B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5360" y="2927096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65.7%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8360" y="2927096"/>
            <a:ext cx="1000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10.2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5640" y="2927096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3.8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8640" y="2927096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0.689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17360" y="2927096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0.258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6079" y="2927096"/>
            <a:ext cx="113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0.489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0520" y="2927096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0.072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3337560"/>
            <a:ext cx="9829800" cy="475488"/>
          </a:xfrm>
          <a:prstGeom prst="rect">
            <a:avLst/>
          </a:prstGeom>
          <a:solidFill>
            <a:srgbClr val="0F0C06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8000" y="3439160"/>
            <a:ext cx="164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060"/>
                </a:solidFill>
              </a:rPr>
              <a:t>Mistral-7B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45360" y="3439160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41.4%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8360" y="3439160"/>
            <a:ext cx="1000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7.5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5640" y="3439160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4.1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8640" y="3439160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0.615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17360" y="3439160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0.279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6079" y="3439160"/>
            <a:ext cx="113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0.459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40520" y="3439160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0.059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3849624"/>
            <a:ext cx="9829800" cy="475488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8000" y="3951224"/>
            <a:ext cx="164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6C6C"/>
                </a:solidFill>
              </a:rPr>
              <a:t>BLOOMZ-7B1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45360" y="3951224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8360" y="3951224"/>
            <a:ext cx="1000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85640" y="3951224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8640" y="3951224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17360" y="3951224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06079" y="3951224"/>
            <a:ext cx="113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40520" y="3951224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4361688"/>
            <a:ext cx="9829800" cy="475488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8000" y="4463288"/>
            <a:ext cx="164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6C6C"/>
                </a:solidFill>
              </a:rPr>
              <a:t>BLOOM-3B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45360" y="4463288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88360" y="4463288"/>
            <a:ext cx="1000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85640" y="4463288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28640" y="4463288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17360" y="4463288"/>
            <a:ext cx="1092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06079" y="4463288"/>
            <a:ext cx="113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40520" y="4463288"/>
            <a:ext cx="104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482803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B4F8"/>
                </a:solidFill>
              </a:rPr>
              <a:t>Average Quality Metrics by Configuration (all models, successful parses)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5138928"/>
            <a:ext cx="260604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5300" y="5166360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Config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108960" y="5138928"/>
            <a:ext cx="1874519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147060" y="5166360"/>
            <a:ext cx="18745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CQ Coverage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0" y="5138928"/>
            <a:ext cx="1874519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67300" y="5166360"/>
            <a:ext cx="18745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Scenario Coverage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949440" y="5138928"/>
            <a:ext cx="1874519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87540" y="5166360"/>
            <a:ext cx="18745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Hallucination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69680" y="5138928"/>
            <a:ext cx="1371600" cy="2743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07780" y="51663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B4F8"/>
                </a:solidFill>
              </a:rPr>
              <a:t>Combined F1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" y="5449824"/>
            <a:ext cx="9829800" cy="23774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95300" y="5475224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6C6C"/>
                </a:solidFill>
              </a:rPr>
              <a:t>cq-only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47060" y="5475224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0.844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67300" y="5475224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0.182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87540" y="5475224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0.548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07780" y="547522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0.088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" y="5705856"/>
            <a:ext cx="9829800" cy="237744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95300" y="5731256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scenario-cq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47060" y="5731256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0.819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67300" y="5731256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0.346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987540" y="5731256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0.416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07780" y="57312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0.086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57200" y="5961888"/>
            <a:ext cx="9829800" cy="23774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95300" y="5987288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scenario-cq-constraints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47060" y="598728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0.836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67300" y="598728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0.282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87540" y="598728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0.392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07780" y="598728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0.056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7200" y="6217920"/>
            <a:ext cx="9829800" cy="237744"/>
          </a:xfrm>
          <a:prstGeom prst="rect">
            <a:avLst/>
          </a:prstGeom>
          <a:solidFill>
            <a:srgbClr val="0F1117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95300" y="6243320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CAF7D"/>
                </a:solidFill>
              </a:rPr>
              <a:t>scenario-cq-reasoning ★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147060" y="6243320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0.748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067300" y="6243320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0.379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87540" y="6243320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0.367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07780" y="62433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0.082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57200" y="6473952"/>
            <a:ext cx="9829800" cy="237744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95300" y="6499352"/>
            <a:ext cx="2606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92A4"/>
                </a:solidFill>
              </a:rPr>
              <a:t>scenario-only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147060" y="6499352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0.352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67300" y="6499352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87540" y="6499352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0.451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07780" y="6499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0.059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Model × Config Parse Success Heatmap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2A4"/>
                </a:solidFill>
              </a:rPr>
              <a:t>Parse success rate for each (model, config) pair. 14 scenarios per cell.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11400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cq-only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8768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4168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scenario-cq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31536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56936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scenario-cq-
constraints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4304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29704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scenario-cq-
reasoning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77072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02472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scenario-only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49840" y="1463040"/>
            <a:ext cx="1572768" cy="50292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75240" y="1501140"/>
            <a:ext cx="1521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AB4F8"/>
                </a:solidFill>
              </a:rPr>
              <a:t>Average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993392"/>
            <a:ext cx="1783080" cy="62179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094992"/>
            <a:ext cx="1737360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BLOOM-3B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1993392"/>
            <a:ext cx="1572768" cy="621792"/>
          </a:xfrm>
          <a:prstGeom prst="rect">
            <a:avLst/>
          </a:prstGeom>
          <a:solidFill>
            <a:srgbClr val="111214"/>
          </a:solidFill>
          <a:ln w="12700">
            <a:solidFill>
              <a:srgbClr val="222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0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892A4"/>
                </a:solidFill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58768" y="1993392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58768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31536" y="1993392"/>
            <a:ext cx="1572768" cy="621792"/>
          </a:xfrm>
          <a:prstGeom prst="rect">
            <a:avLst/>
          </a:prstGeom>
          <a:solidFill>
            <a:srgbClr val="111214"/>
          </a:solidFill>
          <a:ln w="12700">
            <a:solidFill>
              <a:srgbClr val="222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1536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892A4"/>
                </a:solidFill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04304" y="1993392"/>
            <a:ext cx="1572768" cy="621792"/>
          </a:xfrm>
          <a:prstGeom prst="rect">
            <a:avLst/>
          </a:prstGeom>
          <a:solidFill>
            <a:srgbClr val="111214"/>
          </a:solidFill>
          <a:ln w="12700">
            <a:solidFill>
              <a:srgbClr val="222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04304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892A4"/>
                </a:solidFill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77072" y="1993392"/>
            <a:ext cx="1572768" cy="621792"/>
          </a:xfrm>
          <a:prstGeom prst="rect">
            <a:avLst/>
          </a:prstGeom>
          <a:solidFill>
            <a:srgbClr val="111214"/>
          </a:solidFill>
          <a:ln w="12700">
            <a:solidFill>
              <a:srgbClr val="222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7072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892A4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49840" y="1993392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0" y="212039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15184"/>
            <a:ext cx="1783080" cy="62179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2716784"/>
            <a:ext cx="1737360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BLOOMZ-7B1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2615184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6000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8768" y="2615184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31536" y="2615184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31536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04304" y="2615184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04304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77072" y="2615184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77072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49840" y="2615184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2742184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236976"/>
            <a:ext cx="1783080" cy="62179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" y="3338576"/>
            <a:ext cx="1737360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GPT-5.4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0" y="3236976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86000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86%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58768" y="3236976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58768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50%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31536" y="3236976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31536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04304" y="3236976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04304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577072" y="3236976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77072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50%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149840" y="3236976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49840" y="3363976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37%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3858768"/>
            <a:ext cx="1783080" cy="62179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5488" y="3960368"/>
            <a:ext cx="1737360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Llama-2-70B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86000" y="3858768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286000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86%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58768" y="3858768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58768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71%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31536" y="3858768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31536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71%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004304" y="3858768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04304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50%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77072" y="3858768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77072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50%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149840" y="3858768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49840" y="3985768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66%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200" y="4480560"/>
            <a:ext cx="1783080" cy="62179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" y="4582160"/>
            <a:ext cx="1737360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AF7D"/>
                </a:solidFill>
              </a:rPr>
              <a:t>Llama-3.1-8B ★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286000" y="4480560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286000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58768" y="4480560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58768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86%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31536" y="4480560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31536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64%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004304" y="4480560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004304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577072" y="4480560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577072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79%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149840" y="4480560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149840" y="4607560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76%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" y="5102352"/>
            <a:ext cx="1783080" cy="621792"/>
          </a:xfrm>
          <a:prstGeom prst="rect">
            <a:avLst/>
          </a:prstGeom>
          <a:solidFill>
            <a:srgbClr val="1A1D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5488" y="5203952"/>
            <a:ext cx="1737360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Mistral-7B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0" y="5102352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286000" y="522935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50%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858768" y="5102352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58768" y="522935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29%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31536" y="5102352"/>
            <a:ext cx="1572768" cy="621792"/>
          </a:xfrm>
          <a:prstGeom prst="rect">
            <a:avLst/>
          </a:prstGeom>
          <a:solidFill>
            <a:srgbClr val="1C0D0D"/>
          </a:solidFill>
          <a:ln w="12700">
            <a:solidFill>
              <a:srgbClr val="38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31536" y="522935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06C6C"/>
                </a:solidFill>
              </a:rPr>
              <a:t>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004304" y="5102352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04304" y="522935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43%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577072" y="5102352"/>
            <a:ext cx="1572768" cy="621792"/>
          </a:xfrm>
          <a:prstGeom prst="rect">
            <a:avLst/>
          </a:prstGeom>
          <a:solidFill>
            <a:srgbClr val="09150F"/>
          </a:solidFill>
          <a:ln w="12700">
            <a:solidFill>
              <a:srgbClr val="132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577072" y="522935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CAF7D"/>
                </a:solidFill>
              </a:rPr>
              <a:t>79%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149840" y="5102352"/>
            <a:ext cx="1572768" cy="621792"/>
          </a:xfrm>
          <a:prstGeom prst="rect">
            <a:avLst/>
          </a:prstGeom>
          <a:solidFill>
            <a:srgbClr val="1E180C"/>
          </a:solidFill>
          <a:ln w="12700">
            <a:solidFill>
              <a:srgbClr val="3C3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49840" y="5229352"/>
            <a:ext cx="1572768" cy="49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0C060"/>
                </a:solidFill>
              </a:rPr>
              <a:t>41%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7200" y="5989320"/>
            <a:ext cx="6858000" cy="749808"/>
          </a:xfrm>
          <a:prstGeom prst="rect">
            <a:avLst/>
          </a:prstGeom>
          <a:solidFill>
            <a:srgbClr val="0C1D14"/>
          </a:solidFill>
          <a:ln w="25400">
            <a:solidFill>
              <a:srgbClr val="4CA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21792" y="6080760"/>
            <a:ext cx="66019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Llama-3.1-8B is the only model maintaining &gt;60% parse success across ALL 5 configs — including difficult constraint/reasoning prompts.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498079" y="5989320"/>
            <a:ext cx="4206240" cy="749808"/>
          </a:xfrm>
          <a:prstGeom prst="rect">
            <a:avLst/>
          </a:prstGeom>
          <a:solidFill>
            <a:srgbClr val="282010"/>
          </a:solidFill>
          <a:ln w="2540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662671" y="6080760"/>
            <a:ext cx="3950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GPT-5.4: 86% on cq-only (best!) but 0% on reasoning &amp; constraints — prompt format breaks Turtle extraction.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502920" cy="320040"/>
          </a:xfrm>
          <a:prstGeom prst="rect">
            <a:avLst/>
          </a:prstGeom>
          <a:solidFill>
            <a:srgbClr val="23274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28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2A4"/>
                </a:solidFill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B4F8"/>
                </a:solidFill>
              </a:rPr>
              <a:t>Summary &amp; Best Performing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11247120" cy="12700"/>
          </a:xfrm>
          <a:prstGeom prst="rect">
            <a:avLst/>
          </a:prstGeom>
          <a:solidFill>
            <a:srgbClr val="23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029200" cy="3291840"/>
          </a:xfrm>
          <a:prstGeom prst="rect">
            <a:avLst/>
          </a:prstGeom>
          <a:solidFill>
            <a:srgbClr val="07180E"/>
          </a:solidFill>
          <a:ln w="25400">
            <a:solidFill>
              <a:srgbClr val="2A6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AF7D"/>
                </a:solidFill>
              </a:rPr>
              <a:t>★  Best Overall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EAF0"/>
                </a:solidFill>
              </a:rPr>
              <a:t>Llama-3.1-8B-Instruct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99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Parse success:    75.7%  (highest across all configs)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1401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Hallucination:    0.345  (lowest — most faithful)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980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CQ coverage:      0.729  (good on successful runs)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8211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Consistent across ALL 5 prompt configurations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6616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• Open-source · 8B params · GPU-deployable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26280"/>
            <a:ext cx="2423160" cy="2176272"/>
          </a:xfrm>
          <a:prstGeom prst="rect">
            <a:avLst/>
          </a:prstGeom>
          <a:solidFill>
            <a:srgbClr val="12120A"/>
          </a:solidFill>
          <a:ln w="25400">
            <a:solidFill>
              <a:srgbClr val="80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6177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C060"/>
                </a:solidFill>
              </a:rPr>
              <a:t>🥈  Best Quality When Parsed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9194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AF0"/>
                </a:solidFill>
              </a:rPr>
              <a:t>GPT-5.4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303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CQ coverage: 0.804 (best)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Combined F1: 0.110 (best)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253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But: 0% parse rate on complex configs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7278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High hallucination: 0.585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4526280"/>
            <a:ext cx="2423160" cy="2176272"/>
          </a:xfrm>
          <a:prstGeom prst="rect">
            <a:avLst/>
          </a:prstGeom>
          <a:solidFill>
            <a:srgbClr val="100D06"/>
          </a:solidFill>
          <a:ln w="25400">
            <a:solidFill>
              <a:srgbClr val="805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27248" y="46177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B4F8"/>
                </a:solidFill>
              </a:rPr>
              <a:t>🥉  Best Runner-Up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7248" y="49194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AF0"/>
                </a:solidFill>
              </a:rPr>
              <a:t>Llama-2-70B-chat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7248" y="52303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Parse rate: 65.7% (2nd)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CQ coverage: 0.689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27248" y="59253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Consistent across 4/5 configs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7248" y="627278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AF0"/>
                </a:solidFill>
              </a:rPr>
              <a:t>• More params ≠ better than 3.1-8B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10972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AB4F8"/>
                </a:solidFill>
              </a:rPr>
              <a:t>Key Findings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720" y="1508760"/>
            <a:ext cx="457200" cy="594360"/>
          </a:xfrm>
          <a:prstGeom prst="rect">
            <a:avLst/>
          </a:prstGeom>
          <a:solidFill>
            <a:srgbClr val="09150F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0" y="1610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F1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161036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Model size ≠ performance. Llama-3.1-8B (8B) outperforms Llama-2-70B (70B) and GPT-5.4 on parse reliability.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60720" y="2240280"/>
            <a:ext cx="457200" cy="594360"/>
          </a:xfrm>
          <a:prstGeom prst="rect">
            <a:avLst/>
          </a:prstGeom>
          <a:solidFill>
            <a:srgbClr val="09150F"/>
          </a:solidFill>
          <a:ln w="12700">
            <a:solidFill>
              <a:srgbClr val="193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234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CAF7D"/>
                </a:solidFill>
              </a:rPr>
              <a:t>F2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234188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Instruction-following quality matters more than raw capacity for structured Turtle generation.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2971800"/>
            <a:ext cx="457200" cy="594360"/>
          </a:xfrm>
          <a:prstGeom prst="rect">
            <a:avLst/>
          </a:prstGeom>
          <a:solidFill>
            <a:srgbClr val="1E180C"/>
          </a:solidFill>
          <a:ln w="12700">
            <a:solidFill>
              <a:srgbClr val="504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3073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C060"/>
                </a:solidFill>
              </a:rPr>
              <a:t>F3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307340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CQ-only prompt maximises CQ coverage (0.844) but introduces most hallucination (0.548). Scenario context reduces hallucination by 24%.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3703320"/>
            <a:ext cx="457200" cy="594360"/>
          </a:xfrm>
          <a:prstGeom prst="rect">
            <a:avLst/>
          </a:prstGeom>
          <a:solidFill>
            <a:srgbClr val="11161F"/>
          </a:solidFill>
          <a:ln w="12700">
            <a:solidFill>
              <a:srgbClr val="2E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380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B4F8"/>
                </a:solidFill>
              </a:rPr>
              <a:t>F4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1072" y="380492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Reasoning-guided prompts (scenario-cq-reasoning) achieve lowest hallucination (0.367) — best faithfulness-quality tradeoff.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0720" y="4434840"/>
            <a:ext cx="457200" cy="594360"/>
          </a:xfrm>
          <a:prstGeom prst="rect">
            <a:avLst/>
          </a:prstGeom>
          <a:solidFill>
            <a:srgbClr val="1C0D0D"/>
          </a:solidFill>
          <a:ln w="12700">
            <a:solidFill>
              <a:srgbClr val="4A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0" y="4536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06C6C"/>
                </a:solidFill>
              </a:rPr>
              <a:t>F5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1072" y="453644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BLOOM-family models (3B, 7B): 0% parse success. Base models without instruction tuning are unsuitable for ODP generation.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5166360"/>
            <a:ext cx="457200" cy="594360"/>
          </a:xfrm>
          <a:prstGeom prst="rect">
            <a:avLst/>
          </a:prstGeom>
          <a:solidFill>
            <a:srgbClr val="111214"/>
          </a:solidFill>
          <a:ln w="12700">
            <a:solidFill>
              <a:srgbClr val="2D30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5267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892A4"/>
                </a:solidFill>
              </a:rPr>
              <a:t>F6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5267960"/>
            <a:ext cx="5349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AF0"/>
                </a:solidFill>
              </a:rPr>
              <a:t>Ground-truth F1 universally low (0.06–0.11): LLMs diverge in naming from expert ontologists even when semantically correct.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6473952"/>
            <a:ext cx="11247120" cy="292608"/>
          </a:xfrm>
          <a:prstGeom prst="rect">
            <a:avLst/>
          </a:prstGeom>
          <a:solidFill>
            <a:srgbClr val="0C1D14"/>
          </a:solidFill>
          <a:ln w="25400">
            <a:solidFill>
              <a:srgbClr val="4CA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6565392"/>
            <a:ext cx="10991088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AF0"/>
                </a:solidFill>
              </a:rPr>
              <a:t>Recommendation: Llama-3.1-8B-Instruct + scenario-cq-reasoning = best balance of syntactic validity, faithfulness &amp; hallucination control for open-source ODP generation.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
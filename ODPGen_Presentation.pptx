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943600" cy="6858000"/>
          </a:xfrm>
          <a:prstGeom prst="rect">
            <a:avLst/>
          </a:prstGeom>
          <a:solidFill>
            <a:srgbClr val="12183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6C8EBF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C8EBF"/>
                </a:solidFill>
              </a:rPr>
              <a:t>RESEARCH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0" b="1" i="0">
                <a:solidFill>
                  <a:srgbClr val="E8EAF0"/>
                </a:solidFill>
              </a:rPr>
              <a:t>ODPGen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42032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8892A4"/>
                </a:solidFill>
              </a:rPr>
              <a:t>Benchmarking Large Language Models on
Ontology Design Pattern Generation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364992"/>
            <a:ext cx="5029200" cy="19050"/>
          </a:xfrm>
          <a:prstGeom prst="rect">
            <a:avLst/>
          </a:prstGeom>
          <a:solidFill>
            <a:srgbClr val="6C8EBF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520440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77647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8AB4F8"/>
                </a:solidFill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3520440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Prompt Configs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377647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8AB4F8"/>
                </a:solidFill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297680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ODP Scenarios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55371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8AB4F8"/>
                </a:solidFill>
              </a:rPr>
              <a:t>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4297680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Total Runs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455371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8AB4F8"/>
                </a:solidFill>
              </a:rPr>
              <a:t>420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1463040"/>
            <a:ext cx="2286000" cy="1737360"/>
          </a:xfrm>
          <a:prstGeom prst="rect">
            <a:avLst/>
          </a:prstGeom>
          <a:solidFill>
            <a:srgbClr val="1A1D2E"/>
          </a:solidFill>
          <a:ln w="19050">
            <a:solidFill>
              <a:srgbClr val="232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1627632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8AB4F8"/>
                </a:solidFill>
              </a:rPr>
              <a:t>420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240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892A4"/>
                </a:solidFill>
              </a:rPr>
              <a:t>runs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89720" y="1463040"/>
            <a:ext cx="2286000" cy="1737360"/>
          </a:xfrm>
          <a:prstGeom prst="rect">
            <a:avLst/>
          </a:prstGeom>
          <a:solidFill>
            <a:srgbClr val="1A1D2E"/>
          </a:solidFill>
          <a:ln w="19050">
            <a:solidFill>
              <a:srgbClr val="232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9720" y="1627632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8AB4F8"/>
                </a:solidFill>
              </a:rPr>
              <a:t>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20" y="2240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892A4"/>
                </a:solidFill>
              </a:rPr>
              <a:t>scenarios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0" y="3657600"/>
            <a:ext cx="2286000" cy="1737360"/>
          </a:xfrm>
          <a:prstGeom prst="rect">
            <a:avLst/>
          </a:prstGeom>
          <a:solidFill>
            <a:srgbClr val="1A1D2E"/>
          </a:solidFill>
          <a:ln w="19050">
            <a:solidFill>
              <a:srgbClr val="232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3822192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8AB4F8"/>
                </a:solidFill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44348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892A4"/>
                </a:solidFill>
              </a:rPr>
              <a:t>configs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89720" y="3657600"/>
            <a:ext cx="2286000" cy="1737360"/>
          </a:xfrm>
          <a:prstGeom prst="rect">
            <a:avLst/>
          </a:prstGeom>
          <a:solidFill>
            <a:srgbClr val="1A1D2E"/>
          </a:solidFill>
          <a:ln w="19050">
            <a:solidFill>
              <a:srgbClr val="232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89720" y="3822192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8AB4F8"/>
                </a:solidFill>
              </a:rPr>
              <a:t>44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9720" y="44348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892A4"/>
                </a:solidFill>
              </a:rPr>
              <a:t>metrics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502920" cy="32004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28320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92A4"/>
                </a:solidFill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7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8AB4F8"/>
                </a:solidFill>
              </a:rPr>
              <a:t>Overview &amp; Research Questions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96112"/>
            <a:ext cx="11247120" cy="1270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15568"/>
            <a:ext cx="5029200" cy="2743200"/>
          </a:xfrm>
          <a:prstGeom prst="rect">
            <a:avLst/>
          </a:prstGeom>
          <a:solidFill>
            <a:srgbClr val="1A1D2E"/>
          </a:solidFill>
          <a:ln w="19050">
            <a:solidFill>
              <a:srgbClr val="6C8E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1204468"/>
            <a:ext cx="487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AB4F8"/>
                </a:solidFill>
              </a:rPr>
              <a:t>Research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463040"/>
            <a:ext cx="487680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• RQ1  How well can LLMs generate valid OWL/Turtle from scenarios?
• RQ2  How logically consistent and error-free are outputs?
• RQ3  What is the impact of prompting strategy?
• RQ4  How faithful are outputs to the ground-truth scenario?
• RQ5  Can models generalize to recently-published ODPs?</a:t>
            </a:r>
          </a:p>
        </p:txBody>
      </p:sp>
      <p:sp>
        <p:nvSpPr>
          <p:cNvPr id="9" name="Rectangle 8"/>
          <p:cNvSpPr/>
          <p:nvPr/>
        </p:nvSpPr>
        <p:spPr>
          <a:xfrm>
            <a:off x="5760720" y="1115568"/>
            <a:ext cx="1463040" cy="1280160"/>
          </a:xfrm>
          <a:prstGeom prst="rect">
            <a:avLst/>
          </a:prstGeom>
          <a:solidFill>
            <a:srgbClr val="1A1D2E"/>
          </a:solidFill>
          <a:ln w="19050">
            <a:solidFill>
              <a:srgbClr val="232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0" y="128016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8AB4F8"/>
                </a:solidFill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1892808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892A4"/>
                </a:solidFill>
              </a:rPr>
              <a:t>LLMs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60920" y="1115568"/>
            <a:ext cx="1463040" cy="1280160"/>
          </a:xfrm>
          <a:prstGeom prst="rect">
            <a:avLst/>
          </a:prstGeom>
          <a:solidFill>
            <a:srgbClr val="1A1D2E"/>
          </a:solidFill>
          <a:ln w="19050">
            <a:solidFill>
              <a:srgbClr val="232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60920" y="128016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8AB4F8"/>
                </a:solidFill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1892808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892A4"/>
                </a:solidFill>
              </a:rPr>
              <a:t>Configs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1120" y="1115568"/>
            <a:ext cx="1463040" cy="1280160"/>
          </a:xfrm>
          <a:prstGeom prst="rect">
            <a:avLst/>
          </a:prstGeom>
          <a:solidFill>
            <a:srgbClr val="1A1D2E"/>
          </a:solidFill>
          <a:ln w="19050">
            <a:solidFill>
              <a:srgbClr val="232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0" y="128016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8AB4F8"/>
                </a:solidFill>
              </a:rPr>
              <a:t>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1892808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892A4"/>
                </a:solidFill>
              </a:rPr>
              <a:t>Scenarios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561320" y="1115568"/>
            <a:ext cx="1463040" cy="1280160"/>
          </a:xfrm>
          <a:prstGeom prst="rect">
            <a:avLst/>
          </a:prstGeom>
          <a:solidFill>
            <a:srgbClr val="1A1D2E"/>
          </a:solidFill>
          <a:ln w="19050">
            <a:solidFill>
              <a:srgbClr val="232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61320" y="128016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8AB4F8"/>
                </a:solidFill>
              </a:rPr>
              <a:t>420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61320" y="1892808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892A4"/>
                </a:solidFill>
              </a:rPr>
              <a:t>Runs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977639"/>
            <a:ext cx="11247120" cy="594360"/>
          </a:xfrm>
          <a:prstGeom prst="rect">
            <a:avLst/>
          </a:prstGeom>
          <a:solidFill>
            <a:srgbClr val="0D1117"/>
          </a:solidFill>
          <a:ln w="25400">
            <a:solidFill>
              <a:srgbClr val="6C8E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4053839"/>
            <a:ext cx="10972800" cy="44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Core hypothesis: structured prompting (CQs + reasoning or self-validation) should improve faithfulness — but may trade off syntactic correctness for weaker models.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754880"/>
            <a:ext cx="2560320" cy="1737360"/>
          </a:xfrm>
          <a:prstGeom prst="rect">
            <a:avLst/>
          </a:prstGeom>
          <a:solidFill>
            <a:srgbClr val="1A1D2E"/>
          </a:solidFill>
          <a:ln w="19050">
            <a:solidFill>
              <a:srgbClr val="232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919472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8AB4F8"/>
                </a:solidFill>
              </a:rPr>
              <a:t>420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5321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892A4"/>
                </a:solidFill>
              </a:rPr>
              <a:t>evaluated outputs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91840" y="4754880"/>
            <a:ext cx="2560320" cy="1737360"/>
          </a:xfrm>
          <a:prstGeom prst="rect">
            <a:avLst/>
          </a:prstGeom>
          <a:solidFill>
            <a:srgbClr val="1A1D2E"/>
          </a:solidFill>
          <a:ln w="19050">
            <a:solidFill>
              <a:srgbClr val="232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91840" y="4919472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4CAF7D"/>
                </a:solidFill>
              </a:rPr>
              <a:t>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91840" y="55321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892A4"/>
                </a:solidFill>
              </a:rPr>
              <a:t>ODP scenarios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4754880"/>
            <a:ext cx="2560320" cy="1737360"/>
          </a:xfrm>
          <a:prstGeom prst="rect">
            <a:avLst/>
          </a:prstGeom>
          <a:solidFill>
            <a:srgbClr val="1A1D2E"/>
          </a:solidFill>
          <a:ln w="19050">
            <a:solidFill>
              <a:srgbClr val="232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26480" y="4919472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0C060"/>
                </a:solidFill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55321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892A4"/>
                </a:solidFill>
              </a:rPr>
              <a:t>prompt configs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61120" y="4754880"/>
            <a:ext cx="2560320" cy="1737360"/>
          </a:xfrm>
          <a:prstGeom prst="rect">
            <a:avLst/>
          </a:prstGeom>
          <a:solidFill>
            <a:srgbClr val="1A1D2E"/>
          </a:solidFill>
          <a:ln w="19050">
            <a:solidFill>
              <a:srgbClr val="232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61120" y="4919472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B39DDB"/>
                </a:solidFill>
              </a:rPr>
              <a:t>44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0" y="55321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892A4"/>
                </a:solidFill>
              </a:rPr>
              <a:t>metrics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502920" cy="32004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28320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92A4"/>
                </a:solidFill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7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8AB4F8"/>
                </a:solidFill>
              </a:rPr>
              <a:t>Models Evaluated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96112"/>
            <a:ext cx="11247120" cy="1270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15568"/>
            <a:ext cx="1874519" cy="301752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8000" y="1143000"/>
            <a:ext cx="18745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AB4F8"/>
                </a:solidFill>
              </a:rPr>
              <a:t>Model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1115568"/>
            <a:ext cx="2423160" cy="301752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28240" y="1143000"/>
            <a:ext cx="2423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AB4F8"/>
                </a:solidFill>
              </a:rPr>
              <a:t>Provider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46320" y="1115568"/>
            <a:ext cx="1508760" cy="301752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7120" y="1143000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AB4F8"/>
                </a:solidFill>
              </a:rPr>
              <a:t>Parameters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115568"/>
            <a:ext cx="1965960" cy="301752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51600" y="1143000"/>
            <a:ext cx="1965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AB4F8"/>
                </a:solidFill>
              </a:rPr>
              <a:t>Training Cutoff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0" y="1115568"/>
            <a:ext cx="1371600" cy="301752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63280" y="114300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AB4F8"/>
                </a:solidFill>
              </a:rPr>
              <a:t>Parse Rate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444752"/>
            <a:ext cx="9829800" cy="658368"/>
          </a:xfrm>
          <a:prstGeom prst="rect">
            <a:avLst/>
          </a:prstGeom>
          <a:solidFill>
            <a:srgbClr val="090C11"/>
          </a:solidFill>
          <a:ln w="12700">
            <a:solidFill>
              <a:srgbClr val="22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3400" y="1571752"/>
            <a:ext cx="17983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AB4F8"/>
                </a:solidFill>
              </a:rPr>
              <a:t>Gemini 3.1 Pro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53640" y="1571752"/>
            <a:ext cx="2346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2A4"/>
                </a:solidFill>
              </a:rPr>
              <a:t>Google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22520" y="1571752"/>
            <a:ext cx="1432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Proprietary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7000" y="1571752"/>
            <a:ext cx="1889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2A4"/>
                </a:solidFill>
              </a:rPr>
              <a:t>~2025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88680" y="1571752"/>
            <a:ext cx="1295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CAF7D"/>
                </a:solidFill>
              </a:rPr>
              <a:t>100.0%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148840"/>
            <a:ext cx="9829800" cy="658368"/>
          </a:xfrm>
          <a:prstGeom prst="rect">
            <a:avLst/>
          </a:prstGeom>
          <a:solidFill>
            <a:srgbClr val="050C08"/>
          </a:solidFill>
          <a:ln w="12700">
            <a:solidFill>
              <a:srgbClr val="132B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400" y="2275840"/>
            <a:ext cx="17983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CAF7D"/>
                </a:solidFill>
              </a:rPr>
              <a:t>Llama-3.1-8B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53640" y="2275840"/>
            <a:ext cx="2346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2A4"/>
                </a:solidFill>
              </a:rPr>
              <a:t>Meta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22520" y="2275840"/>
            <a:ext cx="1432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8B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7000" y="2275840"/>
            <a:ext cx="1889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2A4"/>
                </a:solidFill>
              </a:rPr>
              <a:t>Dec 2023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88680" y="2275840"/>
            <a:ext cx="1295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CAF7D"/>
                </a:solidFill>
              </a:rPr>
              <a:t>75.7%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2852928"/>
            <a:ext cx="9829800" cy="658368"/>
          </a:xfrm>
          <a:prstGeom prst="rect">
            <a:avLst/>
          </a:prstGeom>
          <a:solidFill>
            <a:srgbClr val="110D06"/>
          </a:solidFill>
          <a:ln w="12700">
            <a:solidFill>
              <a:srgbClr val="3C30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3400" y="2979928"/>
            <a:ext cx="17983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C060"/>
                </a:solidFill>
              </a:rPr>
              <a:t>Llama-2-70B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53640" y="2979928"/>
            <a:ext cx="2346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2A4"/>
                </a:solidFill>
              </a:rPr>
              <a:t>Meta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22520" y="2979928"/>
            <a:ext cx="1432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70B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7000" y="2979928"/>
            <a:ext cx="1889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2A4"/>
                </a:solidFill>
              </a:rPr>
              <a:t>Sep 2022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88680" y="2979928"/>
            <a:ext cx="1295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C060"/>
                </a:solidFill>
              </a:rPr>
              <a:t>65.7%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3557016"/>
            <a:ext cx="9829800" cy="658368"/>
          </a:xfrm>
          <a:prstGeom prst="rect">
            <a:avLst/>
          </a:prstGeom>
          <a:solidFill>
            <a:srgbClr val="110D06"/>
          </a:solidFill>
          <a:ln w="12700">
            <a:solidFill>
              <a:srgbClr val="3C30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3400" y="3684016"/>
            <a:ext cx="17983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C060"/>
                </a:solidFill>
              </a:rPr>
              <a:t>Mistral-7B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53640" y="3684016"/>
            <a:ext cx="2346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2A4"/>
                </a:solidFill>
              </a:rPr>
              <a:t>Mistral AI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22520" y="3684016"/>
            <a:ext cx="1432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7B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77000" y="3684016"/>
            <a:ext cx="1889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2A4"/>
                </a:solidFill>
              </a:rPr>
              <a:t>~2023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88680" y="3684016"/>
            <a:ext cx="1295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C060"/>
                </a:solidFill>
              </a:rPr>
              <a:t>41.4%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4261104"/>
            <a:ext cx="9829800" cy="658368"/>
          </a:xfrm>
          <a:prstGeom prst="rect">
            <a:avLst/>
          </a:prstGeom>
          <a:solidFill>
            <a:srgbClr val="0C0B0F"/>
          </a:solidFill>
          <a:ln w="12700">
            <a:solidFill>
              <a:srgbClr val="2C27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3400" y="4388104"/>
            <a:ext cx="17983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39DDB"/>
                </a:solidFill>
              </a:rPr>
              <a:t>GPT-5.4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53640" y="4388104"/>
            <a:ext cx="2346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2A4"/>
                </a:solidFill>
              </a:rPr>
              <a:t>OpenAI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22520" y="4388104"/>
            <a:ext cx="1432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Proprietary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77000" y="4388104"/>
            <a:ext cx="1889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2A4"/>
                </a:solidFill>
              </a:rPr>
              <a:t>~2024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88680" y="4388104"/>
            <a:ext cx="1295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C060"/>
                </a:solidFill>
              </a:rPr>
              <a:t>37.1%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4965192"/>
            <a:ext cx="9829800" cy="658368"/>
          </a:xfrm>
          <a:prstGeom prst="rect">
            <a:avLst/>
          </a:prstGeom>
          <a:solidFill>
            <a:srgbClr val="100707"/>
          </a:solidFill>
          <a:ln w="12700">
            <a:solidFill>
              <a:srgbClr val="38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3400" y="5092192"/>
            <a:ext cx="17983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06C6C"/>
                </a:solidFill>
              </a:rPr>
              <a:t>BLOOMZ-7B1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53640" y="5092192"/>
            <a:ext cx="2346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2A4"/>
                </a:solidFill>
              </a:rPr>
              <a:t>BigScience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22520" y="5092192"/>
            <a:ext cx="1432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7B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77000" y="5092192"/>
            <a:ext cx="1889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2A4"/>
                </a:solidFill>
              </a:rPr>
              <a:t>Jul 2022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88680" y="5092192"/>
            <a:ext cx="1295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06C6C"/>
                </a:solidFill>
              </a:rPr>
              <a:t>0.0%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6400800"/>
            <a:ext cx="11247120" cy="347472"/>
          </a:xfrm>
          <a:prstGeom prst="rect">
            <a:avLst/>
          </a:prstGeom>
          <a:solidFill>
            <a:srgbClr val="0D1117"/>
          </a:solidFill>
          <a:ln w="25400">
            <a:solidFill>
              <a:srgbClr val="6C8E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360" y="6477000"/>
            <a:ext cx="10972800" cy="195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Temperature=0.0 for all runs. Open-source: HuggingFace Transformers. GPT-5.4: OpenAI API. Gemini: Google GenAI SDK.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502920" cy="32004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28320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92A4"/>
                </a:solidFill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7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8AB4F8"/>
                </a:solidFill>
              </a:rPr>
              <a:t>Prompting Strategies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96112"/>
            <a:ext cx="11247120" cy="1270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15568"/>
            <a:ext cx="3566160" cy="1920240"/>
          </a:xfrm>
          <a:prstGeom prst="rect">
            <a:avLst/>
          </a:prstGeom>
          <a:solidFill>
            <a:srgbClr val="1A1D2E"/>
          </a:solidFill>
          <a:ln w="19050">
            <a:solidFill>
              <a:srgbClr val="232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1204468"/>
            <a:ext cx="3413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AB4F8"/>
                </a:solidFill>
              </a:rPr>
              <a:t>1. scenario-only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463040"/>
            <a:ext cx="34137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• Only scenario text — no CQs
• Model infers scope from narrative
• Highest scenario vocabulary coverage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4160520" y="1115568"/>
            <a:ext cx="3566160" cy="1920240"/>
          </a:xfrm>
          <a:prstGeom prst="rect">
            <a:avLst/>
          </a:prstGeom>
          <a:solidFill>
            <a:srgbClr val="1A1D2E"/>
          </a:solidFill>
          <a:ln w="19050">
            <a:solidFill>
              <a:srgbClr val="232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36720" y="1204468"/>
            <a:ext cx="3413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AB4F8"/>
                </a:solidFill>
              </a:rPr>
              <a:t>2. cq-only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36720" y="1463040"/>
            <a:ext cx="34137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• Only Competency Questions provided
• Highest CQ coverage (0.858 avg)
• Also highest hallucination (0.586)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1115568"/>
            <a:ext cx="3840480" cy="1920240"/>
          </a:xfrm>
          <a:prstGeom prst="rect">
            <a:avLst/>
          </a:prstGeom>
          <a:solidFill>
            <a:srgbClr val="1A1D2E"/>
          </a:solidFill>
          <a:ln w="19050">
            <a:solidFill>
              <a:srgbClr val="232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40040" y="1204468"/>
            <a:ext cx="3688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CAF7D"/>
                </a:solidFill>
              </a:rPr>
              <a:t>3. scenario-cq  [Balanced]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40040" y="1463040"/>
            <a:ext cx="36880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• Both scenario + CQs
• Requires scenario→axiom &amp; CQ→axiom mapping
• Good balance of CQ + scenario coverage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182112"/>
            <a:ext cx="5394960" cy="1920240"/>
          </a:xfrm>
          <a:prstGeom prst="rect">
            <a:avLst/>
          </a:prstGeom>
          <a:solidFill>
            <a:srgbClr val="1A1D2E"/>
          </a:solidFill>
          <a:ln w="19050">
            <a:solidFill>
              <a:srgbClr val="232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400" y="3271012"/>
            <a:ext cx="5242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C060"/>
                </a:solidFill>
              </a:rPr>
              <a:t>4. scenario-cq-constraints  [Validation]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3529584"/>
            <a:ext cx="52425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• Adds 6-item self-validation checklist
• Syntax, domain/range, coherence, scope checks
• Lower parse rate — extra text confuses parsers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20" y="3182112"/>
            <a:ext cx="5715000" cy="1920240"/>
          </a:xfrm>
          <a:prstGeom prst="rect">
            <a:avLst/>
          </a:prstGeom>
          <a:solidFill>
            <a:srgbClr val="1A1D2E"/>
          </a:solidFill>
          <a:ln w="19050">
            <a:solidFill>
              <a:srgbClr val="232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65520" y="3271012"/>
            <a:ext cx="5562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CAF7D"/>
                </a:solidFill>
              </a:rPr>
              <a:t>5. scenario-cq-reasoning  [Faithfulness]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65520" y="3529584"/>
            <a:ext cx="55626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• 6-step reasoning: extract → propose → draft → verify → remove → output
• Lowest hallucination overall
• Best scenario coverage among CQ-aware configs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257800"/>
            <a:ext cx="11247120" cy="475488"/>
          </a:xfrm>
          <a:prstGeom prst="rect">
            <a:avLst/>
          </a:prstGeom>
          <a:solidFill>
            <a:srgbClr val="0D1117"/>
          </a:solidFill>
          <a:ln w="25400">
            <a:solidFill>
              <a:srgbClr val="6C8E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334000"/>
            <a:ext cx="10972800" cy="323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All prompts use @prefix owl/rdf/rdfs/xsd and require owl:Ontology with rdfs:label and rdfs:comment.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502920" cy="32004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28320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92A4"/>
                </a:solidFill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7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8AB4F8"/>
                </a:solidFill>
              </a:rPr>
              <a:t>Evaluation Methodology — 4 Layers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96112"/>
            <a:ext cx="11247120" cy="1270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15568"/>
            <a:ext cx="5577840" cy="2468880"/>
          </a:xfrm>
          <a:prstGeom prst="rect">
            <a:avLst/>
          </a:prstGeom>
          <a:solidFill>
            <a:srgbClr val="1A1D2E"/>
          </a:solidFill>
          <a:ln w="19050">
            <a:solidFill>
              <a:srgbClr val="242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1204468"/>
            <a:ext cx="5425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C8EBF"/>
                </a:solidFill>
              </a:rPr>
              <a:t>Layer 1 — Formal / Syntactic Quality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463040"/>
            <a:ext cx="54254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• parse_success — Valid Turtle syntax?
• triple_count — Total RDF triples
• ontology_declared — owl:Ontology header?
• label_coverage_ratio — all entities with rdfs:label
• class_label_ratio [NEW] — owl:Class entities with rdfs:label
• property_label_ratio [NEW] — Properties with rdfs:label
• comment_coverage_ratio, domain_range_ratio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080" y="1115568"/>
            <a:ext cx="5577840" cy="2468880"/>
          </a:xfrm>
          <a:prstGeom prst="rect">
            <a:avLst/>
          </a:prstGeom>
          <a:solidFill>
            <a:srgbClr val="1A1D2E"/>
          </a:solidFill>
          <a:ln w="19050">
            <a:solidFill>
              <a:srgbClr val="193A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1280" y="1204468"/>
            <a:ext cx="5425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CAF7D"/>
                </a:solidFill>
              </a:rPr>
              <a:t>Layer 2 — Scenario Faithfulness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1280" y="1463040"/>
            <a:ext cx="54254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• cq_coverage_ratio — CQs answerable (token overlap)
• cq_mean_token_recall — avg recall per CQ
• scenario_coverage_ratio — scenario vocab in ontology
• hallucination_ratio — unsupported vocab fraction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721608"/>
            <a:ext cx="5577840" cy="2468880"/>
          </a:xfrm>
          <a:prstGeom prst="rect">
            <a:avLst/>
          </a:prstGeom>
          <a:solidFill>
            <a:srgbClr val="1A1D2E"/>
          </a:solidFill>
          <a:ln w="19050">
            <a:solidFill>
              <a:srgbClr val="504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3400" y="3810508"/>
            <a:ext cx="5425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C060"/>
                </a:solidFill>
              </a:rPr>
              <a:t>Layer 3 — Semantic Similarity vs Ground Truth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3400" y="4069080"/>
            <a:ext cx="54254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• class_name_F1 — name match vs ground-truth classes
• property_name_F1 — same for properties
• combined_f1 — macro avg F1
• matched_class_names — classes in both generated &amp; GT
• matched_property_names — properties in both; e.g. 'event', 'has effect'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3721608"/>
            <a:ext cx="5577840" cy="2468880"/>
          </a:xfrm>
          <a:prstGeom prst="rect">
            <a:avLst/>
          </a:prstGeom>
          <a:solidFill>
            <a:srgbClr val="1A1D2E"/>
          </a:solidFill>
          <a:ln w="19050">
            <a:solidFill>
              <a:srgbClr val="3B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1280" y="3810508"/>
            <a:ext cx="5425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39DDB"/>
                </a:solidFill>
              </a:rPr>
              <a:t>Layer 4 — Feasibility &amp; Unseen 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1280" y="4069080"/>
            <a:ext cx="54254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• Each (model, ODP) labelled plausible_unseen or likely_seen
• Compares ODP pub date vs model training cutoff
• Confidence: high / medium / low
• Future: human eval — Correctness, Completeness, Clarity (1–5)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400800"/>
            <a:ext cx="11247120" cy="347472"/>
          </a:xfrm>
          <a:prstGeom prst="rect">
            <a:avLst/>
          </a:prstGeom>
          <a:solidFill>
            <a:srgbClr val="0D1117"/>
          </a:solidFill>
          <a:ln w="25400">
            <a:solidFill>
              <a:srgbClr val="6C8E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6477000"/>
            <a:ext cx="10972800" cy="195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Pipeline → results/summary.csv  (420 rows × 44 columns, incl. class_label_ratio &amp; property_label_ratio)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502920" cy="32004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28320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92A4"/>
                </a:solidFill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7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8AB4F8"/>
                </a:solidFill>
              </a:rPr>
              <a:t>Raw Output Examples — Scenario 2023-133-01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96112"/>
            <a:ext cx="11247120" cy="1270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892A4"/>
                </a:solidFill>
              </a:rPr>
              <a:t>Scenario: "Model a causal Bayesian network over events with weighted causal edges as an ODP."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3840480" cy="2240280"/>
          </a:xfrm>
          <a:prstGeom prst="rect">
            <a:avLst/>
          </a:prstGeom>
          <a:solidFill>
            <a:srgbClr val="0B0F14"/>
          </a:solidFill>
          <a:ln w="12700">
            <a:solidFill>
              <a:srgbClr val="22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3400" y="1557528"/>
            <a:ext cx="3078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AB4F8"/>
                </a:solidFill>
              </a:rPr>
              <a:t>Gemini 3.1 Pro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0" y="1582928"/>
            <a:ext cx="804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CAF7D"/>
                </a:solidFill>
              </a:rPr>
              <a:t>SUCCESS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0700" y="1828800"/>
            <a:ext cx="3713480" cy="150876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8800" y="1856232"/>
            <a:ext cx="3637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C3C8D8"/>
                </a:solidFill>
              </a:rPr>
              <a:t>@prefix owl:  &lt;http://www.w3.org/2002/07/owl#&gt; . ↩ @prefix rdf:  &lt;http://www.w3.org/1999/02/22-rdf-syntax-ns#&gt; . ↩ @prefix rdfs: &lt;http://www.w3.org/2000/01/rdf-schema#&gt; . ↩ @prefix xsd:  &lt;http://www.w3.org/2001/XMLSchema#&gt; . ↩ @prefix :     &lt;http://example.org/odp#&gt; . ↩  ↩ :Ontology a owl:Ontology ; ↩     rdfs:label "Causal Bayesian Network (CBN) Sprinkler Ontol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53128" y="1481328"/>
            <a:ext cx="3840480" cy="2240280"/>
          </a:xfrm>
          <a:prstGeom prst="rect">
            <a:avLst/>
          </a:prstGeom>
          <a:solidFill>
            <a:srgbClr val="060E0A"/>
          </a:solidFill>
          <a:ln w="12700">
            <a:solidFill>
              <a:srgbClr val="132B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9328" y="1557528"/>
            <a:ext cx="3078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CAF7D"/>
                </a:solidFill>
              </a:rPr>
              <a:t>Llama-3.1-8B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24928" y="1582928"/>
            <a:ext cx="804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CAF7D"/>
                </a:solidFill>
              </a:rPr>
              <a:t>SUCCESS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16628" y="1828800"/>
            <a:ext cx="3713480" cy="150876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4728" y="1856232"/>
            <a:ext cx="3637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C3C8D8"/>
                </a:solidFill>
              </a:rPr>
              <a:t>@prefix owl:  &lt;http://www.w3.org/2002/07/owl#&gt;. ↩ @prefix rdf:  &lt;http://www.w3.org/1999/02/22-rdf-syntax-ns#&gt;. ↩ @prefix rdfs: &lt;http://www.w3.org/2000/01/rdf-schema#&gt;. ↩ @prefix xsd:  &lt;http://www.w3.org/2001/XMLSchema#&gt;. ↩ @prefix :     &lt;http://example.org/odp#&gt;. ↩  ↩ :Ontology a owl:Ontology ; ↩   rdfs:label "Sprinkler Use Case Ontology" ; ↩   rdfs:comment "Reaso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49056" y="1481328"/>
            <a:ext cx="3840480" cy="2240280"/>
          </a:xfrm>
          <a:prstGeom prst="rect">
            <a:avLst/>
          </a:prstGeom>
          <a:solidFill>
            <a:srgbClr val="141008"/>
          </a:solidFill>
          <a:ln w="12700">
            <a:solidFill>
              <a:srgbClr val="3C30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25256" y="1557528"/>
            <a:ext cx="3078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C060"/>
                </a:solidFill>
              </a:rPr>
              <a:t>Llama-2-70B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20856" y="1582928"/>
            <a:ext cx="804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CAF7D"/>
                </a:solidFill>
              </a:rPr>
              <a:t>SUCCESS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12556" y="1828800"/>
            <a:ext cx="3713480" cy="150876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50656" y="1856232"/>
            <a:ext cx="3637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C3C8D8"/>
                </a:solidFill>
              </a:rPr>
              <a:t>Turtle Ontology: ↩ @prefix owl:  &lt;http://www.w3.org/2002/07/owl#&gt;. ↩ @prefix rdf:  &lt;http://www.w3.org/1999/02/22-rdf-syntax-ns#&gt;. ↩ @prefix rdfs: &lt;http://www.w3.org/2000/01/rdf-schema#&gt;. ↩ @prefix xsd:  &lt;http://www.w3.org/2001/XMLSchema#&gt;. ↩ @prefix :     &lt;http://example.org/odp#&gt;. ↩  ↩ :Ontology a owl:Ontology ; ↩ rdfs:label "Sprinkler Use Case Ontology" ; ↩ rdfs:c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858768"/>
            <a:ext cx="3840480" cy="2240280"/>
          </a:xfrm>
          <a:prstGeom prst="rect">
            <a:avLst/>
          </a:prstGeom>
          <a:solidFill>
            <a:srgbClr val="141008"/>
          </a:solidFill>
          <a:ln w="12700">
            <a:solidFill>
              <a:srgbClr val="3C30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400" y="3934968"/>
            <a:ext cx="3078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C060"/>
                </a:solidFill>
              </a:rPr>
              <a:t>Mistral-7B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0" y="3960368"/>
            <a:ext cx="804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CAF7D"/>
                </a:solidFill>
              </a:rPr>
              <a:t>SUCCESS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0700" y="4206240"/>
            <a:ext cx="3713480" cy="150876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8800" y="4233672"/>
            <a:ext cx="3637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C3C8D8"/>
                </a:solidFill>
              </a:rPr>
              <a:t>1. :Ontology a owl:Ontology ; ↩   rdfs:label "Sprinkler Use Case Ontology" ; ↩   rdfs:comment "An ontology for the sprinkler use case, modeling events and causal relationships.". ↩  ↩ :Event a owl:Class ; ↩   rdfs:label "Event" ; ↩   rdfs:comment "A general event in the scenario.". ↩  ↩ :RainySeason a :Event ; ↩   rdfs:label "Rainy Season" ; ↩   rdfs:comment "The even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53128" y="3858768"/>
            <a:ext cx="3840480" cy="2240280"/>
          </a:xfrm>
          <a:prstGeom prst="rect">
            <a:avLst/>
          </a:prstGeom>
          <a:solidFill>
            <a:srgbClr val="0E0D12"/>
          </a:solidFill>
          <a:ln w="12700">
            <a:solidFill>
              <a:srgbClr val="2C27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29328" y="3934968"/>
            <a:ext cx="3078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39DDB"/>
                </a:solidFill>
              </a:rPr>
              <a:t>GPT-5.4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4928" y="3960368"/>
            <a:ext cx="804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CAF7D"/>
                </a:solidFill>
              </a:rPr>
              <a:t>SUCCESS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16628" y="4206240"/>
            <a:ext cx="3713480" cy="150876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54728" y="4233672"/>
            <a:ext cx="3637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C3C8D8"/>
                </a:solidFill>
              </a:rPr>
              <a:t>@prefix owl:  &lt;http://www.w3.org/2002/07/owl#&gt; . ↩ @prefix rdf:  &lt;http://www.w3.org/1999/02/22-rdf-syntax-ndf-syntax-ns#&gt; . ↩ @prefix rdfs: &lt;http://www.w3.org/2000/01/rdf-schema#&gt; . ↩ @prefix xsd:  &lt;http://www.w3.org/2001/XMLSchema#&gt; . ↩ @prefix :     &lt;http://example.org/odp#&gt; . ↩  ↩ :Ontology a owl:Ontology ; ↩     rdfs:label "Sprinkler Causal Bayesian Network 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49056" y="3858768"/>
            <a:ext cx="3840480" cy="2240280"/>
          </a:xfrm>
          <a:prstGeom prst="rect">
            <a:avLst/>
          </a:prstGeom>
          <a:solidFill>
            <a:srgbClr val="120909"/>
          </a:solidFill>
          <a:ln w="12700">
            <a:solidFill>
              <a:srgbClr val="38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25256" y="3934968"/>
            <a:ext cx="3078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06C6C"/>
                </a:solidFill>
              </a:rPr>
              <a:t>BLOOMZ-7B1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20856" y="3960368"/>
            <a:ext cx="804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06C6C"/>
                </a:solidFill>
              </a:rPr>
              <a:t>FAIL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512556" y="4206240"/>
            <a:ext cx="3713480" cy="150876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50656" y="4233672"/>
            <a:ext cx="3637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C3C8D8"/>
                </a:solidFill>
              </a:rPr>
              <a:t>- What if the pavement is wet, how would it effect the pavement being slippery?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502920" cy="32004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28320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92A4"/>
                </a:solidFill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7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8AB4F8"/>
                </a:solidFill>
              </a:rPr>
              <a:t>Results — Parse Success Rate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96112"/>
            <a:ext cx="11247120" cy="1270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2A4"/>
                </a:solidFill>
              </a:rPr>
              <a:t>Parse success is the primary gate metric. Total: 420 runs.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8AB4F8"/>
                </a:solidFill>
              </a:rPr>
              <a:t>By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754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E8EAF0"/>
                </a:solidFill>
              </a:rPr>
              <a:t>Gemini 3.1 Pro</a:t>
            </a:r>
          </a:p>
        </p:txBody>
      </p:sp>
      <p:sp>
        <p:nvSpPr>
          <p:cNvPr id="9" name="Rectangle 8"/>
          <p:cNvSpPr/>
          <p:nvPr/>
        </p:nvSpPr>
        <p:spPr>
          <a:xfrm>
            <a:off x="2651760" y="1737360"/>
            <a:ext cx="5303520" cy="41148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651760" y="1737360"/>
            <a:ext cx="5303520" cy="411480"/>
          </a:xfrm>
          <a:prstGeom prst="rect">
            <a:avLst/>
          </a:prstGeom>
          <a:solidFill>
            <a:srgbClr val="4CAF7D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6080" y="177546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EAF0"/>
                </a:solidFill>
              </a:rPr>
              <a:t>100.0%  (70/70)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34238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E8EAF0"/>
                </a:solidFill>
              </a:rPr>
              <a:t>Llama-3.1-8B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51760" y="2304288"/>
            <a:ext cx="5303520" cy="41148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51760" y="2304288"/>
            <a:ext cx="4015522" cy="411480"/>
          </a:xfrm>
          <a:prstGeom prst="rect">
            <a:avLst/>
          </a:prstGeom>
          <a:solidFill>
            <a:srgbClr val="4CAF7D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18082" y="2342388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EAF0"/>
                </a:solidFill>
              </a:rPr>
              <a:t>75.7%  (53/70)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09316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E8EAF0"/>
                </a:solidFill>
              </a:rPr>
              <a:t>Llama-2-70B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51760" y="2871216"/>
            <a:ext cx="5303520" cy="41148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651760" y="2871216"/>
            <a:ext cx="3485170" cy="411480"/>
          </a:xfrm>
          <a:prstGeom prst="rect">
            <a:avLst/>
          </a:prstGeom>
          <a:solidFill>
            <a:srgbClr val="F0C06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87730" y="2909316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EAF0"/>
                </a:solidFill>
              </a:rPr>
              <a:t>65.7%  (46/70)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476244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E8EAF0"/>
                </a:solidFill>
              </a:rPr>
              <a:t>Mistral-7B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51760" y="3438144"/>
            <a:ext cx="5303520" cy="41148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651760" y="3438144"/>
            <a:ext cx="2197172" cy="411480"/>
          </a:xfrm>
          <a:prstGeom prst="rect">
            <a:avLst/>
          </a:prstGeom>
          <a:solidFill>
            <a:srgbClr val="F0C06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99732" y="3476244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EAF0"/>
                </a:solidFill>
              </a:rPr>
              <a:t>41.4%  (29/70)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043172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E8EAF0"/>
                </a:solidFill>
              </a:rPr>
              <a:t>GPT-5.4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51760" y="4005072"/>
            <a:ext cx="5303520" cy="41148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651760" y="4005072"/>
            <a:ext cx="1969878" cy="411480"/>
          </a:xfrm>
          <a:prstGeom prst="rect">
            <a:avLst/>
          </a:prstGeom>
          <a:solidFill>
            <a:srgbClr val="F0C06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72438" y="4043172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EAF0"/>
                </a:solidFill>
              </a:rPr>
              <a:t>37.1%  (26/70)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6101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E8EAF0"/>
                </a:solidFill>
              </a:rPr>
              <a:t>BLOOMZ-7B1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651760" y="4572000"/>
            <a:ext cx="5303520" cy="41148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651760" y="4572000"/>
            <a:ext cx="53035" cy="411480"/>
          </a:xfrm>
          <a:prstGeom prst="rect">
            <a:avLst/>
          </a:prstGeom>
          <a:solidFill>
            <a:srgbClr val="E06C6C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55595" y="461010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EAF0"/>
                </a:solidFill>
              </a:rPr>
              <a:t>0.0%  (0/70)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141732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8AB4F8"/>
                </a:solidFill>
              </a:rPr>
              <a:t>By Configuration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17754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E8EAF0"/>
                </a:solidFill>
              </a:rPr>
              <a:t>cq-only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595360" y="1737360"/>
            <a:ext cx="5303520" cy="41148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595360" y="1737360"/>
            <a:ext cx="3535680" cy="411480"/>
          </a:xfrm>
          <a:prstGeom prst="rect">
            <a:avLst/>
          </a:prstGeom>
          <a:solidFill>
            <a:srgbClr val="8AB4F8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181840" y="177546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EAF0"/>
                </a:solidFill>
              </a:rPr>
              <a:t>66.7%  (56/84)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234238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E8EAF0"/>
                </a:solidFill>
              </a:rPr>
              <a:t>scenario-cq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595360" y="2304288"/>
            <a:ext cx="5303520" cy="41148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95360" y="2304288"/>
            <a:ext cx="2967445" cy="411480"/>
          </a:xfrm>
          <a:prstGeom prst="rect">
            <a:avLst/>
          </a:prstGeom>
          <a:solidFill>
            <a:srgbClr val="8AB4F8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613605" y="2342388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EAF0"/>
                </a:solidFill>
              </a:rPr>
              <a:t>56.0%  (47/84)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2909316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E8EAF0"/>
                </a:solidFill>
              </a:rPr>
              <a:t>scenario-cq-constraints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595360" y="2871216"/>
            <a:ext cx="5303520" cy="41148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595360" y="2871216"/>
            <a:ext cx="2146662" cy="411480"/>
          </a:xfrm>
          <a:prstGeom prst="rect">
            <a:avLst/>
          </a:prstGeom>
          <a:solidFill>
            <a:srgbClr val="8AB4F8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792822" y="2909316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EAF0"/>
                </a:solidFill>
              </a:rPr>
              <a:t>40.5%  (34/84)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3476244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E8EAF0"/>
                </a:solidFill>
              </a:rPr>
              <a:t>scenario-cq-reasoning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95360" y="3438144"/>
            <a:ext cx="5303520" cy="41148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595360" y="3438144"/>
            <a:ext cx="2336074" cy="411480"/>
          </a:xfrm>
          <a:prstGeom prst="rect">
            <a:avLst/>
          </a:prstGeom>
          <a:solidFill>
            <a:srgbClr val="8AB4F8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982234" y="3476244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EAF0"/>
                </a:solidFill>
              </a:rPr>
              <a:t>44.0%  (37/84)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0" y="4043172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E8EAF0"/>
                </a:solidFill>
              </a:rPr>
              <a:t>scenario-only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595360" y="4005072"/>
            <a:ext cx="5303520" cy="41148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595360" y="4005072"/>
            <a:ext cx="3156857" cy="411480"/>
          </a:xfrm>
          <a:prstGeom prst="rect">
            <a:avLst/>
          </a:prstGeom>
          <a:solidFill>
            <a:srgbClr val="8AB4F8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803017" y="4043172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EAF0"/>
                </a:solidFill>
              </a:rPr>
              <a:t>59.5%  (50/84)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5897880"/>
            <a:ext cx="11247120" cy="475488"/>
          </a:xfrm>
          <a:prstGeom prst="rect">
            <a:avLst/>
          </a:prstGeom>
          <a:solidFill>
            <a:srgbClr val="09150F"/>
          </a:solidFill>
          <a:ln w="25400">
            <a:solidFill>
              <a:srgbClr val="4CAF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94360" y="5974080"/>
            <a:ext cx="10972800" cy="323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Gemini 3.1 Pro: 100% parse success across ALL configs — the only model to achieve this. GPT-5.4: 86% on cq-only but 0% on reasoning/constraints.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502920" cy="32004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28320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92A4"/>
                </a:solidFill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7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8AB4F8"/>
                </a:solidFill>
              </a:rPr>
              <a:t>Results — Quality Metrics (Successful Parses)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96112"/>
            <a:ext cx="11247120" cy="1270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2A4"/>
                </a:solidFill>
              </a:rPr>
              <a:t>Metrics computed only when parse_success=True.  420 runs × 44 metrics.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405890" cy="27432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5300" y="1444752"/>
            <a:ext cx="140589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AB4F8"/>
                </a:solidFill>
              </a:rPr>
              <a:t>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1863090" y="1417320"/>
            <a:ext cx="1405890" cy="27432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01190" y="1444752"/>
            <a:ext cx="140589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AB4F8"/>
                </a:solidFill>
              </a:rPr>
              <a:t>Parse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68980" y="1417320"/>
            <a:ext cx="1405890" cy="27432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07080" y="1444752"/>
            <a:ext cx="140589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AB4F8"/>
                </a:solidFill>
              </a:rPr>
              <a:t>CQ Cov.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74870" y="1417320"/>
            <a:ext cx="1405890" cy="27432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12970" y="1444752"/>
            <a:ext cx="140589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AB4F8"/>
                </a:solidFill>
              </a:rPr>
              <a:t>Scen. Cov.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80760" y="1417320"/>
            <a:ext cx="1405890" cy="27432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18860" y="1444752"/>
            <a:ext cx="140589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AB4F8"/>
                </a:solidFill>
              </a:rPr>
              <a:t>Halluc.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86650" y="1417320"/>
            <a:ext cx="1405890" cy="27432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24750" y="1444752"/>
            <a:ext cx="140589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AB4F8"/>
                </a:solidFill>
              </a:rPr>
              <a:t>Cls Lbl★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892540" y="1417320"/>
            <a:ext cx="1405890" cy="27432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30640" y="1444752"/>
            <a:ext cx="140589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AB4F8"/>
                </a:solidFill>
              </a:rPr>
              <a:t>Prop Lbl★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298430" y="1417320"/>
            <a:ext cx="1405890" cy="27432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336530" y="1444752"/>
            <a:ext cx="140589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AB4F8"/>
                </a:solidFill>
              </a:rPr>
              <a:t>F1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1719072"/>
            <a:ext cx="11247120" cy="448056"/>
          </a:xfrm>
          <a:prstGeom prst="rect">
            <a:avLst/>
          </a:prstGeom>
          <a:solidFill>
            <a:srgbClr val="090C11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300" y="1795272"/>
            <a:ext cx="1367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AB4F8"/>
                </a:solidFill>
              </a:rPr>
              <a:t>Gemini 3.1 Pro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01190" y="1795272"/>
            <a:ext cx="1367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CAF7D"/>
                </a:solidFill>
              </a:rPr>
              <a:t>100.0%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07080" y="1795272"/>
            <a:ext cx="1367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CAF7D"/>
                </a:solidFill>
              </a:rPr>
              <a:t>0.821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12970" y="1795272"/>
            <a:ext cx="1367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CAF7D"/>
                </a:solidFill>
              </a:rPr>
              <a:t>0.436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18860" y="1795272"/>
            <a:ext cx="1367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6C6C"/>
                </a:solidFill>
              </a:rPr>
              <a:t>0.623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4750" y="1795272"/>
            <a:ext cx="1367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1.000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30640" y="1795272"/>
            <a:ext cx="1367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CAF7D"/>
                </a:solidFill>
              </a:rPr>
              <a:t>0.914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36530" y="1795272"/>
            <a:ext cx="1367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CAF7D"/>
                </a:solidFill>
              </a:rPr>
              <a:t>0.125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2194560"/>
            <a:ext cx="11247120" cy="448056"/>
          </a:xfrm>
          <a:prstGeom prst="rect">
            <a:avLst/>
          </a:prstGeom>
          <a:solidFill>
            <a:srgbClr val="050C08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5300" y="2270760"/>
            <a:ext cx="1367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CAF7D"/>
                </a:solidFill>
              </a:rPr>
              <a:t>Llama-3.1-8B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901190" y="2270760"/>
            <a:ext cx="1367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CAF7D"/>
                </a:solidFill>
              </a:rPr>
              <a:t>75.7%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07080" y="2270760"/>
            <a:ext cx="1367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0.729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12970" y="2270760"/>
            <a:ext cx="1367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0.335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18860" y="2270760"/>
            <a:ext cx="1367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CAF7D"/>
                </a:solidFill>
              </a:rPr>
              <a:t>0.345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24750" y="2270760"/>
            <a:ext cx="1367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1.000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30640" y="2270760"/>
            <a:ext cx="1367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0.830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36530" y="2270760"/>
            <a:ext cx="1367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0.071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2670048"/>
            <a:ext cx="11247120" cy="448056"/>
          </a:xfrm>
          <a:prstGeom prst="rect">
            <a:avLst/>
          </a:prstGeom>
          <a:solidFill>
            <a:srgbClr val="110D06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95300" y="2746248"/>
            <a:ext cx="1367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C060"/>
                </a:solidFill>
              </a:rPr>
              <a:t>Llama-2-70B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01190" y="2746248"/>
            <a:ext cx="1367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C060"/>
                </a:solidFill>
              </a:rPr>
              <a:t>65.7%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07080" y="2746248"/>
            <a:ext cx="1367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0.689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12970" y="2746248"/>
            <a:ext cx="1367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6C6C"/>
                </a:solidFill>
              </a:rPr>
              <a:t>0.258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18860" y="2746248"/>
            <a:ext cx="1367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0.489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24750" y="2746248"/>
            <a:ext cx="1367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1.000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30640" y="2746248"/>
            <a:ext cx="1367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6C6C"/>
                </a:solidFill>
              </a:rPr>
              <a:t>0.717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36530" y="2746248"/>
            <a:ext cx="1367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0.072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3145536"/>
            <a:ext cx="11247120" cy="448056"/>
          </a:xfrm>
          <a:prstGeom prst="rect">
            <a:avLst/>
          </a:prstGeom>
          <a:solidFill>
            <a:srgbClr val="110D06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95300" y="3221736"/>
            <a:ext cx="1367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C060"/>
                </a:solidFill>
              </a:rPr>
              <a:t>Mistral-7B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901190" y="3221736"/>
            <a:ext cx="1367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C060"/>
                </a:solidFill>
              </a:rPr>
              <a:t>41.4%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07080" y="3221736"/>
            <a:ext cx="1367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6C6C"/>
                </a:solidFill>
              </a:rPr>
              <a:t>0.615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12970" y="3221736"/>
            <a:ext cx="1367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0.279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18860" y="3221736"/>
            <a:ext cx="1367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CAF7D"/>
                </a:solidFill>
              </a:rPr>
              <a:t>0.459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524750" y="3221736"/>
            <a:ext cx="1367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1.000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30640" y="3221736"/>
            <a:ext cx="1367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CAF7D"/>
                </a:solidFill>
              </a:rPr>
              <a:t>0.966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36530" y="3221736"/>
            <a:ext cx="1367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6C6C"/>
                </a:solidFill>
              </a:rPr>
              <a:t>0.059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57200" y="3621024"/>
            <a:ext cx="11247120" cy="448056"/>
          </a:xfrm>
          <a:prstGeom prst="rect">
            <a:avLst/>
          </a:prstGeom>
          <a:solidFill>
            <a:srgbClr val="0C0B0F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95300" y="3697224"/>
            <a:ext cx="1367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39DDB"/>
                </a:solidFill>
              </a:rPr>
              <a:t>GPT-5.4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901190" y="3697224"/>
            <a:ext cx="1367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C060"/>
                </a:solidFill>
              </a:rPr>
              <a:t>37.1%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307080" y="3697224"/>
            <a:ext cx="1367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CAF7D"/>
                </a:solidFill>
              </a:rPr>
              <a:t>0.804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712970" y="3697224"/>
            <a:ext cx="1367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CAF7D"/>
                </a:solidFill>
              </a:rPr>
              <a:t>0.444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118860" y="3697224"/>
            <a:ext cx="1367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0.585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524750" y="3697224"/>
            <a:ext cx="1367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1.000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930640" y="3697224"/>
            <a:ext cx="1367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0.885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336530" y="3697224"/>
            <a:ext cx="1367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CAF7D"/>
                </a:solidFill>
              </a:rPr>
              <a:t>0.110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7200" y="4096512"/>
            <a:ext cx="11247120" cy="448056"/>
          </a:xfrm>
          <a:prstGeom prst="rect">
            <a:avLst/>
          </a:prstGeom>
          <a:solidFill>
            <a:srgbClr val="10070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5300" y="4172712"/>
            <a:ext cx="1367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06C6C"/>
                </a:solidFill>
              </a:rPr>
              <a:t>BLOOMZ-7B1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901190" y="4172712"/>
            <a:ext cx="1367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06C6C"/>
                </a:solidFill>
              </a:rPr>
              <a:t>0.0%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307080" y="4172712"/>
            <a:ext cx="1367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—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712970" y="4172712"/>
            <a:ext cx="1367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—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118860" y="4172712"/>
            <a:ext cx="1367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—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524750" y="4172712"/>
            <a:ext cx="1367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—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930640" y="4172712"/>
            <a:ext cx="1367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—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336530" y="4172712"/>
            <a:ext cx="1367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—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57200" y="6400800"/>
            <a:ext cx="11247120" cy="347472"/>
          </a:xfrm>
          <a:prstGeom prst="rect">
            <a:avLst/>
          </a:prstGeom>
          <a:solidFill>
            <a:srgbClr val="1E180C"/>
          </a:solidFill>
          <a:ln w="25400">
            <a:solidFill>
              <a:srgbClr val="F0C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94360" y="6477000"/>
            <a:ext cx="10972800" cy="195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class_label_ratio=1.000 for ALL models. property_label_ratio reveals gap: Llama-2-70B=0.717(worst), Mistral=0.966(best).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502920" cy="32004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28320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92A4"/>
                </a:solidFill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7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8AB4F8"/>
                </a:solidFill>
              </a:rPr>
              <a:t>Model × Config Parse Success Heatmap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96112"/>
            <a:ext cx="11247120" cy="1270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2A4"/>
                </a:solidFill>
              </a:rPr>
              <a:t>Parse success rate per (model, config) pair. 14 scenarios each.</a:t>
            </a:r>
          </a:p>
        </p:txBody>
      </p:sp>
      <p:sp>
        <p:nvSpPr>
          <p:cNvPr id="7" name="Rectangle 6"/>
          <p:cNvSpPr/>
          <p:nvPr/>
        </p:nvSpPr>
        <p:spPr>
          <a:xfrm>
            <a:off x="2423160" y="1417320"/>
            <a:ext cx="1828800" cy="438912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48560" y="1468120"/>
            <a:ext cx="177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8AB4F8"/>
                </a:solidFill>
              </a:rPr>
              <a:t>cq-only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1417320"/>
            <a:ext cx="1828800" cy="438912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77360" y="1468120"/>
            <a:ext cx="177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8AB4F8"/>
                </a:solidFill>
              </a:rPr>
              <a:t>scenario-cq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1417320"/>
            <a:ext cx="1828800" cy="438912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06160" y="1468120"/>
            <a:ext cx="177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8AB4F8"/>
                </a:solidFill>
              </a:rPr>
              <a:t>scenario-cq-constraints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09560" y="1417320"/>
            <a:ext cx="1828800" cy="438912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34960" y="1468120"/>
            <a:ext cx="177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8AB4F8"/>
                </a:solidFill>
              </a:rPr>
              <a:t>scenario-cq-reasoning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738360" y="1417320"/>
            <a:ext cx="1828800" cy="438912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63760" y="1468120"/>
            <a:ext cx="177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8AB4F8"/>
                </a:solidFill>
              </a:rPr>
              <a:t>scenario-only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567160" y="1417320"/>
            <a:ext cx="1828800" cy="438912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592560" y="1468120"/>
            <a:ext cx="177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8AB4F8"/>
                </a:solidFill>
              </a:rPr>
              <a:t>Avg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1874520"/>
            <a:ext cx="1920240" cy="594360"/>
          </a:xfrm>
          <a:prstGeom prst="rect">
            <a:avLst/>
          </a:prstGeom>
          <a:solidFill>
            <a:srgbClr val="090C11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2001520"/>
            <a:ext cx="1874519" cy="46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AB4F8"/>
                </a:solidFill>
              </a:rPr>
              <a:t>Gemini 3.1 Pro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23160" y="1874520"/>
            <a:ext cx="1828800" cy="594360"/>
          </a:xfrm>
          <a:prstGeom prst="rect">
            <a:avLst/>
          </a:prstGeom>
          <a:solidFill>
            <a:srgbClr val="07110C"/>
          </a:solidFill>
          <a:ln w="12700">
            <a:solidFill>
              <a:srgbClr val="132B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23160" y="2026920"/>
            <a:ext cx="1828800" cy="44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4CAF7D"/>
                </a:solidFill>
              </a:rPr>
              <a:t>100.0%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51960" y="1874520"/>
            <a:ext cx="1828800" cy="594360"/>
          </a:xfrm>
          <a:prstGeom prst="rect">
            <a:avLst/>
          </a:prstGeom>
          <a:solidFill>
            <a:srgbClr val="07110C"/>
          </a:solidFill>
          <a:ln w="12700">
            <a:solidFill>
              <a:srgbClr val="132B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51960" y="2026920"/>
            <a:ext cx="1828800" cy="44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4CAF7D"/>
                </a:solidFill>
              </a:rPr>
              <a:t>100.0%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80760" y="1874520"/>
            <a:ext cx="1828800" cy="594360"/>
          </a:xfrm>
          <a:prstGeom prst="rect">
            <a:avLst/>
          </a:prstGeom>
          <a:solidFill>
            <a:srgbClr val="07110C"/>
          </a:solidFill>
          <a:ln w="12700">
            <a:solidFill>
              <a:srgbClr val="132B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80760" y="2026920"/>
            <a:ext cx="1828800" cy="44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4CAF7D"/>
                </a:solidFill>
              </a:rPr>
              <a:t>100.0%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09560" y="1874520"/>
            <a:ext cx="1828800" cy="594360"/>
          </a:xfrm>
          <a:prstGeom prst="rect">
            <a:avLst/>
          </a:prstGeom>
          <a:solidFill>
            <a:srgbClr val="07110C"/>
          </a:solidFill>
          <a:ln w="12700">
            <a:solidFill>
              <a:srgbClr val="132B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9560" y="2026920"/>
            <a:ext cx="1828800" cy="44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4CAF7D"/>
                </a:solidFill>
              </a:rPr>
              <a:t>100.0%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38360" y="1874520"/>
            <a:ext cx="1828800" cy="594360"/>
          </a:xfrm>
          <a:prstGeom prst="rect">
            <a:avLst/>
          </a:prstGeom>
          <a:solidFill>
            <a:srgbClr val="07110C"/>
          </a:solidFill>
          <a:ln w="12700">
            <a:solidFill>
              <a:srgbClr val="132B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38360" y="2026920"/>
            <a:ext cx="1828800" cy="44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4CAF7D"/>
                </a:solidFill>
              </a:rPr>
              <a:t>100.0%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567160" y="1874520"/>
            <a:ext cx="1828800" cy="594360"/>
          </a:xfrm>
          <a:prstGeom prst="rect">
            <a:avLst/>
          </a:prstGeom>
          <a:solidFill>
            <a:srgbClr val="07110C"/>
          </a:solidFill>
          <a:ln w="25400">
            <a:solidFill>
              <a:srgbClr val="132B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567160" y="2026920"/>
            <a:ext cx="1828800" cy="44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4CAF7D"/>
                </a:solidFill>
              </a:rPr>
              <a:t>100.0%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2468880"/>
            <a:ext cx="1920240" cy="594360"/>
          </a:xfrm>
          <a:prstGeom prst="rect">
            <a:avLst/>
          </a:prstGeom>
          <a:solidFill>
            <a:srgbClr val="050C08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488" y="2595880"/>
            <a:ext cx="1874519" cy="46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CAF7D"/>
                </a:solidFill>
              </a:rPr>
              <a:t>Llama-3.1-8B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23160" y="2468880"/>
            <a:ext cx="1828800" cy="594360"/>
          </a:xfrm>
          <a:prstGeom prst="rect">
            <a:avLst/>
          </a:prstGeom>
          <a:solidFill>
            <a:srgbClr val="07110C"/>
          </a:solidFill>
          <a:ln w="12700">
            <a:solidFill>
              <a:srgbClr val="132B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423160" y="2621280"/>
            <a:ext cx="1828800" cy="44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4CAF7D"/>
                </a:solidFill>
              </a:rPr>
              <a:t>78.6%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51960" y="2468880"/>
            <a:ext cx="1828800" cy="594360"/>
          </a:xfrm>
          <a:prstGeom prst="rect">
            <a:avLst/>
          </a:prstGeom>
          <a:solidFill>
            <a:srgbClr val="07110C"/>
          </a:solidFill>
          <a:ln w="12700">
            <a:solidFill>
              <a:srgbClr val="132B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51960" y="2621280"/>
            <a:ext cx="1828800" cy="44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4CAF7D"/>
                </a:solidFill>
              </a:rPr>
              <a:t>85.7%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2468880"/>
            <a:ext cx="1828800" cy="594360"/>
          </a:xfrm>
          <a:prstGeom prst="rect">
            <a:avLst/>
          </a:prstGeom>
          <a:solidFill>
            <a:srgbClr val="181309"/>
          </a:solidFill>
          <a:ln w="12700">
            <a:solidFill>
              <a:srgbClr val="3C30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80760" y="2621280"/>
            <a:ext cx="1828800" cy="44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0C060"/>
                </a:solidFill>
              </a:rPr>
              <a:t>64.3%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909560" y="2468880"/>
            <a:ext cx="1828800" cy="594360"/>
          </a:xfrm>
          <a:prstGeom prst="rect">
            <a:avLst/>
          </a:prstGeom>
          <a:solidFill>
            <a:srgbClr val="07110C"/>
          </a:solidFill>
          <a:ln w="12700">
            <a:solidFill>
              <a:srgbClr val="132B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09560" y="2621280"/>
            <a:ext cx="1828800" cy="44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4CAF7D"/>
                </a:solidFill>
              </a:rPr>
              <a:t>71.4%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738360" y="2468880"/>
            <a:ext cx="1828800" cy="594360"/>
          </a:xfrm>
          <a:prstGeom prst="rect">
            <a:avLst/>
          </a:prstGeom>
          <a:solidFill>
            <a:srgbClr val="07110C"/>
          </a:solidFill>
          <a:ln w="12700">
            <a:solidFill>
              <a:srgbClr val="132B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38360" y="2621280"/>
            <a:ext cx="1828800" cy="44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4CAF7D"/>
                </a:solidFill>
              </a:rPr>
              <a:t>78.6%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567160" y="2468880"/>
            <a:ext cx="1828800" cy="594360"/>
          </a:xfrm>
          <a:prstGeom prst="rect">
            <a:avLst/>
          </a:prstGeom>
          <a:solidFill>
            <a:srgbClr val="07110C"/>
          </a:solidFill>
          <a:ln w="25400">
            <a:solidFill>
              <a:srgbClr val="132B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567160" y="2621280"/>
            <a:ext cx="1828800" cy="44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4CAF7D"/>
                </a:solidFill>
              </a:rPr>
              <a:t>75.7%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3063240"/>
            <a:ext cx="1920240" cy="594360"/>
          </a:xfrm>
          <a:prstGeom prst="rect">
            <a:avLst/>
          </a:prstGeom>
          <a:solidFill>
            <a:srgbClr val="110D06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5488" y="3190240"/>
            <a:ext cx="1874519" cy="46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C060"/>
                </a:solidFill>
              </a:rPr>
              <a:t>Llama-2-70B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423160" y="3063240"/>
            <a:ext cx="1828800" cy="594360"/>
          </a:xfrm>
          <a:prstGeom prst="rect">
            <a:avLst/>
          </a:prstGeom>
          <a:solidFill>
            <a:srgbClr val="07110C"/>
          </a:solidFill>
          <a:ln w="12700">
            <a:solidFill>
              <a:srgbClr val="132B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423160" y="3215640"/>
            <a:ext cx="1828800" cy="44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4CAF7D"/>
                </a:solidFill>
              </a:rPr>
              <a:t>85.7%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251960" y="3063240"/>
            <a:ext cx="1828800" cy="594360"/>
          </a:xfrm>
          <a:prstGeom prst="rect">
            <a:avLst/>
          </a:prstGeom>
          <a:solidFill>
            <a:srgbClr val="07110C"/>
          </a:solidFill>
          <a:ln w="12700">
            <a:solidFill>
              <a:srgbClr val="132B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51960" y="3215640"/>
            <a:ext cx="1828800" cy="44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4CAF7D"/>
                </a:solidFill>
              </a:rPr>
              <a:t>71.4%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080760" y="3063240"/>
            <a:ext cx="1828800" cy="594360"/>
          </a:xfrm>
          <a:prstGeom prst="rect">
            <a:avLst/>
          </a:prstGeom>
          <a:solidFill>
            <a:srgbClr val="07110C"/>
          </a:solidFill>
          <a:ln w="12700">
            <a:solidFill>
              <a:srgbClr val="132B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80760" y="3215640"/>
            <a:ext cx="1828800" cy="44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4CAF7D"/>
                </a:solidFill>
              </a:rPr>
              <a:t>71.4%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909560" y="3063240"/>
            <a:ext cx="1828800" cy="594360"/>
          </a:xfrm>
          <a:prstGeom prst="rect">
            <a:avLst/>
          </a:prstGeom>
          <a:solidFill>
            <a:srgbClr val="181309"/>
          </a:solidFill>
          <a:ln w="12700">
            <a:solidFill>
              <a:srgbClr val="3C30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09560" y="3215640"/>
            <a:ext cx="1828800" cy="44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0C060"/>
                </a:solidFill>
              </a:rPr>
              <a:t>50.0%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738360" y="3063240"/>
            <a:ext cx="1828800" cy="594360"/>
          </a:xfrm>
          <a:prstGeom prst="rect">
            <a:avLst/>
          </a:prstGeom>
          <a:solidFill>
            <a:srgbClr val="181309"/>
          </a:solidFill>
          <a:ln w="12700">
            <a:solidFill>
              <a:srgbClr val="3C30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738360" y="3215640"/>
            <a:ext cx="1828800" cy="44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0C060"/>
                </a:solidFill>
              </a:rPr>
              <a:t>50.0%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1567160" y="3063240"/>
            <a:ext cx="1828800" cy="594360"/>
          </a:xfrm>
          <a:prstGeom prst="rect">
            <a:avLst/>
          </a:prstGeom>
          <a:solidFill>
            <a:srgbClr val="181309"/>
          </a:solidFill>
          <a:ln w="25400">
            <a:solidFill>
              <a:srgbClr val="3C30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567160" y="3215640"/>
            <a:ext cx="1828800" cy="44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0C060"/>
                </a:solidFill>
              </a:rPr>
              <a:t>65.7%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57200" y="3657600"/>
            <a:ext cx="1920240" cy="594360"/>
          </a:xfrm>
          <a:prstGeom prst="rect">
            <a:avLst/>
          </a:prstGeom>
          <a:solidFill>
            <a:srgbClr val="110D06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75488" y="3784600"/>
            <a:ext cx="1874519" cy="46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C060"/>
                </a:solidFill>
              </a:rPr>
              <a:t>Mistral-7B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423160" y="3657600"/>
            <a:ext cx="1828800" cy="594360"/>
          </a:xfrm>
          <a:prstGeom prst="rect">
            <a:avLst/>
          </a:prstGeom>
          <a:solidFill>
            <a:srgbClr val="181309"/>
          </a:solidFill>
          <a:ln w="12700">
            <a:solidFill>
              <a:srgbClr val="3C30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423160" y="3810000"/>
            <a:ext cx="1828800" cy="44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0C060"/>
                </a:solidFill>
              </a:rPr>
              <a:t>50.0%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51960" y="3657600"/>
            <a:ext cx="1828800" cy="594360"/>
          </a:xfrm>
          <a:prstGeom prst="rect">
            <a:avLst/>
          </a:prstGeom>
          <a:solidFill>
            <a:srgbClr val="181309"/>
          </a:solidFill>
          <a:ln w="12700">
            <a:solidFill>
              <a:srgbClr val="3C30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251960" y="3810000"/>
            <a:ext cx="1828800" cy="44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0C060"/>
                </a:solidFill>
              </a:rPr>
              <a:t>28.6%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080760" y="3657600"/>
            <a:ext cx="1828800" cy="594360"/>
          </a:xfrm>
          <a:prstGeom prst="rect">
            <a:avLst/>
          </a:prstGeom>
          <a:solidFill>
            <a:srgbClr val="181309"/>
          </a:solidFill>
          <a:ln w="12700">
            <a:solidFill>
              <a:srgbClr val="3C30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080760" y="3810000"/>
            <a:ext cx="1828800" cy="44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0C060"/>
                </a:solidFill>
              </a:rPr>
              <a:t>7.1%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909560" y="3657600"/>
            <a:ext cx="1828800" cy="594360"/>
          </a:xfrm>
          <a:prstGeom prst="rect">
            <a:avLst/>
          </a:prstGeom>
          <a:solidFill>
            <a:srgbClr val="181309"/>
          </a:solidFill>
          <a:ln w="12700">
            <a:solidFill>
              <a:srgbClr val="3C30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909560" y="3810000"/>
            <a:ext cx="1828800" cy="44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0C060"/>
                </a:solidFill>
              </a:rPr>
              <a:t>42.9%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738360" y="3657600"/>
            <a:ext cx="1828800" cy="594360"/>
          </a:xfrm>
          <a:prstGeom prst="rect">
            <a:avLst/>
          </a:prstGeom>
          <a:solidFill>
            <a:srgbClr val="07110C"/>
          </a:solidFill>
          <a:ln w="12700">
            <a:solidFill>
              <a:srgbClr val="132B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38360" y="3810000"/>
            <a:ext cx="1828800" cy="44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4CAF7D"/>
                </a:solidFill>
              </a:rPr>
              <a:t>78.6%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1567160" y="3657600"/>
            <a:ext cx="1828800" cy="594360"/>
          </a:xfrm>
          <a:prstGeom prst="rect">
            <a:avLst/>
          </a:prstGeom>
          <a:solidFill>
            <a:srgbClr val="181309"/>
          </a:solidFill>
          <a:ln w="25400">
            <a:solidFill>
              <a:srgbClr val="3C30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1567160" y="3810000"/>
            <a:ext cx="1828800" cy="44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0C060"/>
                </a:solidFill>
              </a:rPr>
              <a:t>41.4%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200" y="4251960"/>
            <a:ext cx="1920240" cy="594360"/>
          </a:xfrm>
          <a:prstGeom prst="rect">
            <a:avLst/>
          </a:prstGeom>
          <a:solidFill>
            <a:srgbClr val="0C0B0F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75488" y="4378960"/>
            <a:ext cx="1874519" cy="46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39DDB"/>
                </a:solidFill>
              </a:rPr>
              <a:t>GPT-5.4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423160" y="4251960"/>
            <a:ext cx="1828800" cy="594360"/>
          </a:xfrm>
          <a:prstGeom prst="rect">
            <a:avLst/>
          </a:prstGeom>
          <a:solidFill>
            <a:srgbClr val="07110C"/>
          </a:solidFill>
          <a:ln w="12700">
            <a:solidFill>
              <a:srgbClr val="132B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423160" y="4404360"/>
            <a:ext cx="1828800" cy="44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4CAF7D"/>
                </a:solidFill>
              </a:rPr>
              <a:t>85.7%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251960" y="4251960"/>
            <a:ext cx="1828800" cy="594360"/>
          </a:xfrm>
          <a:prstGeom prst="rect">
            <a:avLst/>
          </a:prstGeom>
          <a:solidFill>
            <a:srgbClr val="181309"/>
          </a:solidFill>
          <a:ln w="12700">
            <a:solidFill>
              <a:srgbClr val="3C30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251960" y="4404360"/>
            <a:ext cx="1828800" cy="44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0C060"/>
                </a:solidFill>
              </a:rPr>
              <a:t>50.0%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080760" y="4251960"/>
            <a:ext cx="1828800" cy="594360"/>
          </a:xfrm>
          <a:prstGeom prst="rect">
            <a:avLst/>
          </a:prstGeom>
          <a:solidFill>
            <a:srgbClr val="160A0A"/>
          </a:solidFill>
          <a:ln w="12700">
            <a:solidFill>
              <a:srgbClr val="38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080760" y="4404360"/>
            <a:ext cx="1828800" cy="44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06C6C"/>
                </a:solidFill>
              </a:rP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909560" y="4251960"/>
            <a:ext cx="1828800" cy="594360"/>
          </a:xfrm>
          <a:prstGeom prst="rect">
            <a:avLst/>
          </a:prstGeom>
          <a:solidFill>
            <a:srgbClr val="160A0A"/>
          </a:solidFill>
          <a:ln w="12700">
            <a:solidFill>
              <a:srgbClr val="38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909560" y="4404360"/>
            <a:ext cx="1828800" cy="44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06C6C"/>
                </a:solidFill>
              </a:rPr>
              <a:t>0.0%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9738360" y="4251960"/>
            <a:ext cx="1828800" cy="594360"/>
          </a:xfrm>
          <a:prstGeom prst="rect">
            <a:avLst/>
          </a:prstGeom>
          <a:solidFill>
            <a:srgbClr val="181309"/>
          </a:solidFill>
          <a:ln w="12700">
            <a:solidFill>
              <a:srgbClr val="3C30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738360" y="4404360"/>
            <a:ext cx="1828800" cy="44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0C060"/>
                </a:solidFill>
              </a:rPr>
              <a:t>50.0%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1567160" y="4251960"/>
            <a:ext cx="1828800" cy="594360"/>
          </a:xfrm>
          <a:prstGeom prst="rect">
            <a:avLst/>
          </a:prstGeom>
          <a:solidFill>
            <a:srgbClr val="181309"/>
          </a:solidFill>
          <a:ln w="25400">
            <a:solidFill>
              <a:srgbClr val="3C30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1567160" y="4404360"/>
            <a:ext cx="1828800" cy="44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0C060"/>
                </a:solidFill>
              </a:rPr>
              <a:t>37.1%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57200" y="4846320"/>
            <a:ext cx="1920240" cy="594360"/>
          </a:xfrm>
          <a:prstGeom prst="rect">
            <a:avLst/>
          </a:prstGeom>
          <a:solidFill>
            <a:srgbClr val="10070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75488" y="4973320"/>
            <a:ext cx="1874519" cy="46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06C6C"/>
                </a:solidFill>
              </a:rPr>
              <a:t>BLOOMZ-7B1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423160" y="4846320"/>
            <a:ext cx="1828800" cy="594360"/>
          </a:xfrm>
          <a:prstGeom prst="rect">
            <a:avLst/>
          </a:prstGeom>
          <a:solidFill>
            <a:srgbClr val="160A0A"/>
          </a:solidFill>
          <a:ln w="12700">
            <a:solidFill>
              <a:srgbClr val="38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423160" y="4998720"/>
            <a:ext cx="1828800" cy="44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06C6C"/>
                </a:solidFill>
              </a:rPr>
              <a:t>0.0%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251960" y="4846320"/>
            <a:ext cx="1828800" cy="594360"/>
          </a:xfrm>
          <a:prstGeom prst="rect">
            <a:avLst/>
          </a:prstGeom>
          <a:solidFill>
            <a:srgbClr val="160A0A"/>
          </a:solidFill>
          <a:ln w="12700">
            <a:solidFill>
              <a:srgbClr val="38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251960" y="4998720"/>
            <a:ext cx="1828800" cy="44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06C6C"/>
                </a:solidFill>
              </a:rPr>
              <a:t>0.0%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080760" y="4846320"/>
            <a:ext cx="1828800" cy="594360"/>
          </a:xfrm>
          <a:prstGeom prst="rect">
            <a:avLst/>
          </a:prstGeom>
          <a:solidFill>
            <a:srgbClr val="160A0A"/>
          </a:solidFill>
          <a:ln w="12700">
            <a:solidFill>
              <a:srgbClr val="38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080760" y="4998720"/>
            <a:ext cx="1828800" cy="44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06C6C"/>
                </a:solidFill>
              </a:rP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7909560" y="4846320"/>
            <a:ext cx="1828800" cy="594360"/>
          </a:xfrm>
          <a:prstGeom prst="rect">
            <a:avLst/>
          </a:prstGeom>
          <a:solidFill>
            <a:srgbClr val="160A0A"/>
          </a:solidFill>
          <a:ln w="12700">
            <a:solidFill>
              <a:srgbClr val="38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909560" y="4998720"/>
            <a:ext cx="1828800" cy="44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06C6C"/>
                </a:solidFill>
              </a:rPr>
              <a:t>0.0%</a:t>
            </a:r>
          </a:p>
        </p:txBody>
      </p:sp>
      <p:sp>
        <p:nvSpPr>
          <p:cNvPr id="99" name="Rectangle 98"/>
          <p:cNvSpPr/>
          <p:nvPr/>
        </p:nvSpPr>
        <p:spPr>
          <a:xfrm>
            <a:off x="9738360" y="4846320"/>
            <a:ext cx="1828800" cy="594360"/>
          </a:xfrm>
          <a:prstGeom prst="rect">
            <a:avLst/>
          </a:prstGeom>
          <a:solidFill>
            <a:srgbClr val="160A0A"/>
          </a:solidFill>
          <a:ln w="12700">
            <a:solidFill>
              <a:srgbClr val="38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9738360" y="4998720"/>
            <a:ext cx="1828800" cy="44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06C6C"/>
                </a:solidFill>
              </a:rPr>
              <a:t>0.0%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1567160" y="4846320"/>
            <a:ext cx="1828800" cy="594360"/>
          </a:xfrm>
          <a:prstGeom prst="rect">
            <a:avLst/>
          </a:prstGeom>
          <a:solidFill>
            <a:srgbClr val="160A0A"/>
          </a:solidFill>
          <a:ln w="25400">
            <a:solidFill>
              <a:srgbClr val="38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1567160" y="4998720"/>
            <a:ext cx="1828800" cy="44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06C6C"/>
                </a:solidFill>
              </a:rPr>
              <a:t>0.0%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457200" y="6291072"/>
            <a:ext cx="6858000" cy="475488"/>
          </a:xfrm>
          <a:prstGeom prst="rect">
            <a:avLst/>
          </a:prstGeom>
          <a:solidFill>
            <a:srgbClr val="09150F"/>
          </a:solidFill>
          <a:ln w="25400">
            <a:solidFill>
              <a:srgbClr val="4CAF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94360" y="6367272"/>
            <a:ext cx="6583680" cy="323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Gemini 3.1 Pro: 100% across every config — unique. BLOOMZ-7B1: 0% across every config.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498079" y="6291072"/>
            <a:ext cx="4206240" cy="475488"/>
          </a:xfrm>
          <a:prstGeom prst="rect">
            <a:avLst/>
          </a:prstGeom>
          <a:solidFill>
            <a:srgbClr val="1E180C"/>
          </a:solidFill>
          <a:ln w="25400">
            <a:solidFill>
              <a:srgbClr val="F0C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7635239" y="6367272"/>
            <a:ext cx="3931920" cy="323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GPT-5.4: 86% on cq-only, 0% on constraints/reasoning. Prompts break Turtle extraction.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502920" cy="32004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28320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92A4"/>
                </a:solidFill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7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8AB4F8"/>
                </a:solidFill>
              </a:rPr>
              <a:t>Matched Class &amp; Property Names vs Ground Truth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96112"/>
            <a:ext cx="11247120" cy="1270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2A4"/>
                </a:solidFill>
              </a:rPr>
              <a:t>Names in both generated ontology and ground truth (CamelCase split, case-folded). Low F1 ≠ zero conceptual overlap.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3474720" cy="1600200"/>
          </a:xfrm>
          <a:prstGeom prst="rect">
            <a:avLst/>
          </a:prstGeom>
          <a:solidFill>
            <a:srgbClr val="1A1D2E"/>
          </a:solidFill>
          <a:ln w="19050">
            <a:solidFill>
              <a:srgbClr val="6C8E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3400" y="1551940"/>
            <a:ext cx="332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AB4F8"/>
                </a:solidFill>
              </a:rPr>
              <a:t>Matching Logic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1810512"/>
            <a:ext cx="3322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• URI local name extracted: :hasCause → 'has cause'
• CamelCase split: HasEffect → 'has effect'
• Case-folded &amp; whitespace-normalised
• Precision=|matched|/|generated|, Recall=|matched|/|GT|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1463040"/>
            <a:ext cx="7406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AB4F8"/>
                </a:solidFill>
              </a:rPr>
              <a:t>Example Matches (GPT-5.4 &amp; Gemini, cq-only)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0" y="1764792"/>
            <a:ext cx="2331720" cy="256032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52900" y="1792224"/>
            <a:ext cx="2331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AB4F8"/>
                </a:solidFill>
              </a:rPr>
              <a:t>Model/Config/Scenario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1764792"/>
            <a:ext cx="2697480" cy="256032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0340" y="1792224"/>
            <a:ext cx="2697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AB4F8"/>
                </a:solidFill>
              </a:rPr>
              <a:t>Matched Classes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35440" y="1764792"/>
            <a:ext cx="2514600" cy="256032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73540" y="1792224"/>
            <a:ext cx="2514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AB4F8"/>
                </a:solidFill>
              </a:rPr>
              <a:t>Matched Properties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0" y="2048256"/>
            <a:ext cx="2331720" cy="457200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92240" y="2048256"/>
            <a:ext cx="2697480" cy="457200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35440" y="2048256"/>
            <a:ext cx="2514600" cy="457200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52900" y="2099056"/>
            <a:ext cx="2255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2A4"/>
                </a:solidFill>
              </a:rPr>
              <a:t>GPT-5.4/cq-only/2023-133-01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0340" y="2099056"/>
            <a:ext cx="26212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CAF7D"/>
                </a:solidFill>
              </a:rPr>
              <a:t>event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73540" y="2099056"/>
            <a:ext cx="2438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B4F8"/>
                </a:solidFill>
              </a:rPr>
              <a:t>has effect, has outcome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0" y="2532888"/>
            <a:ext cx="2331720" cy="457200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92240" y="2532888"/>
            <a:ext cx="2697480" cy="457200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35440" y="2532888"/>
            <a:ext cx="2514600" cy="457200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52900" y="2583688"/>
            <a:ext cx="2255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2A4"/>
                </a:solidFill>
              </a:rPr>
              <a:t>GPT-5.4/cq-only/2023-135-01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0340" y="2583688"/>
            <a:ext cx="26212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CAF7D"/>
                </a:solidFill>
              </a:rPr>
              <a:t>name usage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73540" y="2583688"/>
            <a:ext cx="2438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B4F8"/>
                </a:solidFill>
              </a:rPr>
              <a:t>has name usage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0" y="3017520"/>
            <a:ext cx="2331720" cy="457200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92240" y="3017520"/>
            <a:ext cx="2697480" cy="457200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235440" y="3017520"/>
            <a:ext cx="2514600" cy="457200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52900" y="3068320"/>
            <a:ext cx="2255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2A4"/>
                </a:solidFill>
              </a:rPr>
              <a:t>GPT-5.4/cq-only/2025-149-01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0340" y="3068320"/>
            <a:ext cx="26212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CAF7D"/>
                </a:solidFill>
              </a:rPr>
              <a:t>relational database, table, column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73540" y="3068320"/>
            <a:ext cx="2438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B4F8"/>
                </a:solidFill>
              </a:rP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0" y="3502152"/>
            <a:ext cx="2331720" cy="457200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92240" y="3502152"/>
            <a:ext cx="2697480" cy="457200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35440" y="3502152"/>
            <a:ext cx="2514600" cy="457200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52900" y="3552952"/>
            <a:ext cx="2255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2A4"/>
                </a:solidFill>
              </a:rPr>
              <a:t>Gemini/scenario-cq/2023-133-01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0340" y="3552952"/>
            <a:ext cx="26212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CAF7D"/>
                </a:solidFill>
              </a:rPr>
              <a:t>event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73540" y="3552952"/>
            <a:ext cx="2438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B4F8"/>
                </a:solidFill>
              </a:rPr>
              <a:t>—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0" y="3986784"/>
            <a:ext cx="2331720" cy="457200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92240" y="3986784"/>
            <a:ext cx="2697480" cy="457200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235440" y="3986784"/>
            <a:ext cx="2514600" cy="457200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52900" y="4037584"/>
            <a:ext cx="2255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2A4"/>
                </a:solidFill>
              </a:rPr>
              <a:t>Gemini/cq-only/2025-151-01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30340" y="4037584"/>
            <a:ext cx="26212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CAF7D"/>
                </a:solidFill>
              </a:rPr>
              <a:t>evaluation request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73540" y="4037584"/>
            <a:ext cx="2438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B4F8"/>
                </a:solidFill>
              </a:rPr>
              <a:t>requested action, issued by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320040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AB4F8"/>
                </a:solidFill>
              </a:rPr>
              <a:t>Property Label Ratio by Model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35585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E8EAF0"/>
                </a:solidFill>
              </a:rPr>
              <a:t>Gemini 3.1 Pro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51760" y="3520440"/>
            <a:ext cx="3200400" cy="36576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651760" y="3520440"/>
            <a:ext cx="2926080" cy="365760"/>
          </a:xfrm>
          <a:prstGeom prst="rect">
            <a:avLst/>
          </a:prstGeom>
          <a:solidFill>
            <a:srgbClr val="4CAF7D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28640" y="35585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EAF0"/>
                </a:solidFill>
              </a:rPr>
              <a:t>0.914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0157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E8EAF0"/>
                </a:solidFill>
              </a:rPr>
              <a:t>Llama-3.1-8B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51760" y="3977640"/>
            <a:ext cx="3200400" cy="36576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651760" y="3977640"/>
            <a:ext cx="2656935" cy="365760"/>
          </a:xfrm>
          <a:prstGeom prst="rect">
            <a:avLst/>
          </a:prstGeom>
          <a:solidFill>
            <a:srgbClr val="4CAF7D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359495" y="40157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EAF0"/>
                </a:solidFill>
              </a:rPr>
              <a:t>0.830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" y="44729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E8EAF0"/>
                </a:solidFill>
              </a:rPr>
              <a:t>Llama-2-70B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651760" y="4434840"/>
            <a:ext cx="3200400" cy="36576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651760" y="4434840"/>
            <a:ext cx="2295939" cy="365760"/>
          </a:xfrm>
          <a:prstGeom prst="rect">
            <a:avLst/>
          </a:prstGeom>
          <a:solidFill>
            <a:srgbClr val="4CAF7D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98499" y="44729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EAF0"/>
                </a:solidFill>
              </a:rPr>
              <a:t>0.717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49301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E8EAF0"/>
                </a:solidFill>
              </a:rPr>
              <a:t>Mistral-7B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651760" y="4892040"/>
            <a:ext cx="3200400" cy="36576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651760" y="4892040"/>
            <a:ext cx="3090041" cy="365760"/>
          </a:xfrm>
          <a:prstGeom prst="rect">
            <a:avLst/>
          </a:prstGeom>
          <a:solidFill>
            <a:srgbClr val="4CAF7D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792601" y="49301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EAF0"/>
                </a:solidFill>
              </a:rPr>
              <a:t>0.966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53873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E8EAF0"/>
                </a:solidFill>
              </a:rPr>
              <a:t>GPT-5.4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651760" y="5349240"/>
            <a:ext cx="3200400" cy="36576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651760" y="5349240"/>
            <a:ext cx="2831123" cy="365760"/>
          </a:xfrm>
          <a:prstGeom prst="rect">
            <a:avLst/>
          </a:prstGeom>
          <a:solidFill>
            <a:srgbClr val="4CAF7D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533683" y="53873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EAF0"/>
                </a:solidFill>
              </a:rPr>
              <a:t>0.885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7200" y="6400800"/>
            <a:ext cx="11247120" cy="347472"/>
          </a:xfrm>
          <a:prstGeom prst="rect">
            <a:avLst/>
          </a:prstGeom>
          <a:solidFill>
            <a:srgbClr val="1E180C"/>
          </a:solidFill>
          <a:ln w="25400">
            <a:solidFill>
              <a:srgbClr val="F0C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94360" y="6477000"/>
            <a:ext cx="10972800" cy="195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class_label_ratio=1.000 for ALL models on ALL successful parses. The split metric reveals property annotation gaps.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502920" cy="32004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28320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92A4"/>
                </a:solidFill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7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8AB4F8"/>
                </a:solidFill>
              </a:rPr>
              <a:t>Summary &amp; Best Performing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96112"/>
            <a:ext cx="11247120" cy="1270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15568"/>
            <a:ext cx="5029200" cy="5029200"/>
          </a:xfrm>
          <a:prstGeom prst="rect">
            <a:avLst/>
          </a:prstGeom>
          <a:solidFill>
            <a:srgbClr val="07160E"/>
          </a:solidFill>
          <a:ln w="25400">
            <a:solidFill>
              <a:srgbClr val="2A6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0700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CAF7D"/>
                </a:solidFill>
              </a:rPr>
              <a:t>★  Best Overall Reliability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572768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8EAF0"/>
                </a:solidFill>
              </a:rPr>
              <a:t>Gemini 3.1 Pro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93392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• Parse success: 100.0% (highest across all configs)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377440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• 100% parse rate on EVERY configuration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76148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• Best CQ coverage and Combined F1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145536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• Trade-off: highest hallucination (0.623)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529584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• Adds unsupported domain knowledge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160520"/>
            <a:ext cx="2395728" cy="1920240"/>
          </a:xfrm>
          <a:prstGeom prst="rect">
            <a:avLst/>
          </a:prstGeom>
          <a:solidFill>
            <a:srgbClr val="101006"/>
          </a:solidFill>
          <a:ln w="25400">
            <a:solidFill>
              <a:srgbClr val="807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51960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C060"/>
                </a:solidFill>
              </a:rPr>
              <a:t>Faithfulness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55371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8EAF0"/>
                </a:solidFill>
              </a:rPr>
              <a:t>Llama-3.1-8B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86460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EAF0"/>
                </a:solidFill>
              </a:rPr>
              <a:t>• Hallucination: 0.345 (lowest)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2120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EAF0"/>
                </a:solidFill>
              </a:rPr>
              <a:t>• Best open-source 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55955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EAF0"/>
                </a:solidFill>
              </a:rPr>
              <a:t>• Recommended: scenario-cq-reasoning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90088" y="4160520"/>
            <a:ext cx="2423160" cy="1920240"/>
          </a:xfrm>
          <a:prstGeom prst="rect">
            <a:avLst/>
          </a:prstGeom>
          <a:solidFill>
            <a:srgbClr val="100D06"/>
          </a:solidFill>
          <a:ln w="25400">
            <a:solidFill>
              <a:srgbClr val="805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90672" y="4251960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AB4F8"/>
                </a:solidFill>
              </a:rPr>
              <a:t>Best GT Match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90672" y="455371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8EAF0"/>
                </a:solidFill>
              </a:rPr>
              <a:t>Gemini 3.1 Pro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90672" y="486460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EAF0"/>
                </a:solidFill>
              </a:rPr>
              <a:t>• Combined F1: 0.125 (best)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90672" y="52120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EAF0"/>
                </a:solidFill>
              </a:rPr>
              <a:t>• Closest to expert ontology vocab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90672" y="555955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EAF0"/>
                </a:solidFill>
              </a:rPr>
              <a:t>• High CQ coverage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760720" y="1115568"/>
            <a:ext cx="457200" cy="594360"/>
          </a:xfrm>
          <a:prstGeom prst="rect">
            <a:avLst/>
          </a:prstGeom>
          <a:solidFill>
            <a:srgbClr val="09150F"/>
          </a:solidFill>
          <a:ln w="12700">
            <a:solidFill>
              <a:srgbClr val="193A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60720" y="121716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CAF7D"/>
                </a:solidFill>
              </a:rPr>
              <a:t>F1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91072" y="1217168"/>
            <a:ext cx="5349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Model size ≠ performance. Llama-3.1-8B (8B) beats Llama-2-70B (70B) on parse reliability.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760720" y="1828800"/>
            <a:ext cx="457200" cy="594360"/>
          </a:xfrm>
          <a:prstGeom prst="rect">
            <a:avLst/>
          </a:prstGeom>
          <a:solidFill>
            <a:srgbClr val="09150F"/>
          </a:solidFill>
          <a:ln w="12700">
            <a:solidFill>
              <a:srgbClr val="193A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720" y="1930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CAF7D"/>
                </a:solidFill>
              </a:rPr>
              <a:t>F2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91072" y="1930400"/>
            <a:ext cx="5349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Gemini 3.1 Pro: 100% parse, best F1 &amp; CQ coverage — but highest hallucination (0.623).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760720" y="2542032"/>
            <a:ext cx="457200" cy="594360"/>
          </a:xfrm>
          <a:prstGeom prst="rect">
            <a:avLst/>
          </a:prstGeom>
          <a:solidFill>
            <a:srgbClr val="1E180C"/>
          </a:solidFill>
          <a:ln w="12700">
            <a:solidFill>
              <a:srgbClr val="504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60720" y="264363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0C060"/>
                </a:solidFill>
              </a:rPr>
              <a:t>F3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1072" y="2643632"/>
            <a:ext cx="5349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class_label_ratio=1.0 for all models. property_label_ratio exposes hidden gaps (Llama-2: 0.717).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760720" y="3255264"/>
            <a:ext cx="457200" cy="594360"/>
          </a:xfrm>
          <a:prstGeom prst="rect">
            <a:avLst/>
          </a:prstGeom>
          <a:solidFill>
            <a:srgbClr val="11161F"/>
          </a:solidFill>
          <a:ln w="12700">
            <a:solidFill>
              <a:srgbClr val="2E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720" y="335686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8AB4F8"/>
                </a:solidFill>
              </a:rPr>
              <a:t>F4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91072" y="3356864"/>
            <a:ext cx="5349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scenario-cq-reasoning: lowest hallucination (0.461 avg), best faithfulness-quality trade-off.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60720" y="3968496"/>
            <a:ext cx="457200" cy="594360"/>
          </a:xfrm>
          <a:prstGeom prst="rect">
            <a:avLst/>
          </a:prstGeom>
          <a:solidFill>
            <a:srgbClr val="1C0D0D"/>
          </a:solidFill>
          <a:ln w="12700">
            <a:solidFill>
              <a:srgbClr val="4A24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60720" y="407009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E06C6C"/>
                </a:solidFill>
              </a:rPr>
              <a:t>F5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1072" y="4070096"/>
            <a:ext cx="5349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BLOOMZ-7B1: 0% parse across all 5 configs. Instruction-tuned BLOOM cannot produce valid Turtle.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760720" y="4681728"/>
            <a:ext cx="457200" cy="594360"/>
          </a:xfrm>
          <a:prstGeom prst="rect">
            <a:avLst/>
          </a:prstGeom>
          <a:solidFill>
            <a:srgbClr val="111214"/>
          </a:solidFill>
          <a:ln w="12700">
            <a:solidFill>
              <a:srgbClr val="2D30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60720" y="47833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8892A4"/>
                </a:solidFill>
              </a:rPr>
              <a:t>F6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91072" y="4783328"/>
            <a:ext cx="5349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Combined F1 universally low (0.06–0.13): LLMs diverge in naming from expert ontologists.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6400800"/>
            <a:ext cx="11247120" cy="347472"/>
          </a:xfrm>
          <a:prstGeom prst="rect">
            <a:avLst/>
          </a:prstGeom>
          <a:solidFill>
            <a:srgbClr val="09150F"/>
          </a:solidFill>
          <a:ln w="25400">
            <a:solidFill>
              <a:srgbClr val="4CAF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" y="6477000"/>
            <a:ext cx="10972800" cy="195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Recommendation: Gemini 3.1 Pro + scenario-cq-reasoning for maximum quality. Llama-3.1-8B + scenario-cq-reasoning for open-source / local deployment.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
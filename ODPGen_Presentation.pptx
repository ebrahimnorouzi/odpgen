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183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8EBF"/>
                </a:solidFill>
              </a:rPr>
              <a:t>RESEARCH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E8EAF0"/>
                </a:solidFill>
              </a:rPr>
              <a:t>ODPGen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892A4"/>
                </a:solidFill>
              </a:rPr>
              <a:t>Benchmarking Large Language Models on
Ontology Design Pattern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56432"/>
            <a:ext cx="5029200" cy="1905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Models Evaluated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679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6 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611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Prompt Strategies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8679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5 Configurations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451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14 Benchmarks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Total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6451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350 Evaluated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350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evaluated outputs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LLMs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ODPGen  ·  Ontology Design Pattern Generation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Overview &amp; 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2A4"/>
                </a:solidFill>
              </a:rPr>
              <a:t>ODPGen evaluates how well LLMs generate Ontology Design Patterns (ODPs) from natural-language scenarios and competency questions — measuring syntactic validity, faithfulness, and semantic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749039" cy="237744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What are ODPs?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84248"/>
            <a:ext cx="3474719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Reusable ontology templates encoding solutions to common modelling problems
• Building blocks for ontology engineering (like SW design patterns)
• Define classes, properties &amp; axioms grounded in a scenario
• Verified by Competency Questions (CQs) — must-answer queries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00200"/>
            <a:ext cx="7315200" cy="237744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Research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84248"/>
            <a:ext cx="7040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RQ1  How well can LLMs generate valid OWL/Turtle from natural-language scenarios?
• RQ2  How logically consistent and error-free are the outputs?
• RQ3  What is the impact of prompting strategy (CQs, reasoning, constraints)?
• RQ4  How faithful are the outputs to the ground-truth scenario?
• RQ5  Can models generalize to recently published ODPs unseen during training?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206240"/>
            <a:ext cx="10991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Core hypothesis: Structured prompting (CQs + reasoning or self-validation) should improve faithfulness — but may trade off against syntactic correctness for weaker models.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LLMs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4CAF7D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0C060"/>
                </a:solidFill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Scenarios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B39DDB"/>
                </a:solidFill>
              </a:rPr>
              <a:t>350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Dataset — 14 ODP Scenarios (2023–2026)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Scenarios sourced from published ODP papers, each pairing a domain description, Competency Questions, and a ground-truth OWL ontology.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73736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53619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Scenario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508760"/>
            <a:ext cx="406908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1080" y="1536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Domain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508760"/>
            <a:ext cx="123444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5880" y="153619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CQs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508760"/>
            <a:ext cx="146304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6040" y="1536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508760"/>
            <a:ext cx="132588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4800" y="153619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0" y="1508760"/>
            <a:ext cx="118872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6400" y="153619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40280" y="1828800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1828800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1828800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828800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15600" y="1828800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187960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2023-133-01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1080" y="187960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 Bayesian Networks (Sprinkler)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5880" y="187960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6040" y="187960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800" y="187960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144268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40280" y="2144268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5080" y="2144268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35240" y="2144268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2144268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15600" y="2144268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8000" y="219506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2023-133-02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91080" y="219506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 Bayesian Networks (Asthma)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880" y="219506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6040" y="219506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4800" y="219506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459736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40280" y="2459736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2459736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35240" y="2459736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2459736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515600" y="2459736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8000" y="251053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91080" y="251053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Data Governance / SOLID Pods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880" y="251053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6040" y="251053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94800" y="251053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2775204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0280" y="2775204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2775204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35240" y="2775204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0" y="2775204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15600" y="2775204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000" y="282600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91080" y="282600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GDPR Compliance Policies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5880" y="282600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6040" y="282600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94800" y="282600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90672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40280" y="3090672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3090672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35240" y="3090672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0" y="3090672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15600" y="3090672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8000" y="3141472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91080" y="3141472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Access Control / ARGOS Database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5880" y="3141472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6040" y="3141472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4800" y="3141472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406140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240280" y="3406140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55080" y="3406140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635240" y="3406140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0" y="3406140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515600" y="3406140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8000" y="345694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2023-135-01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91080" y="345694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Role-Dependent Naming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5880" y="345694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86040" y="345694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94800" y="345694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3721608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240280" y="3721608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55080" y="3721608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635240" y="3721608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00" y="3721608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15600" y="3721608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8000" y="377240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2024-145-01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91080" y="377240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Maritime / AISHIP Vessel Data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5880" y="377240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86040" y="377240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94800" y="377240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C060"/>
                </a:solidFill>
              </a:rPr>
              <a:t>Borderline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037076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40280" y="4037076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55080" y="4037076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635240" y="4037076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144000" y="4037076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15600" y="4037076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8000" y="408787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2025-147-01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91080" y="408787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Legal Ontology (Indian Courts)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05880" y="408787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6040" y="408787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94800" y="408787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352544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40280" y="4352544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355080" y="4352544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635240" y="4352544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144000" y="4352544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515600" y="4352544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8000" y="440334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2025-149-01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91080" y="440334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Temporal Indirection (Finance)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5880" y="440334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6040" y="440334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800" y="440334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4668012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240280" y="4668012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355080" y="4668012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635240" y="4668012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144000" y="4668012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515600" y="4668012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8000" y="4718812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2025-150-01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91080" y="4718812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MQTT Protocol Semantics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5880" y="4718812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686040" y="4718812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94800" y="4718812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" y="4983480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40280" y="4983480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355080" y="4983480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635240" y="4983480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144000" y="4983480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515600" y="4983480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8000" y="503428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2025-151-01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91080" y="503428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Circular Economy (Product Lifecycle)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5880" y="503428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86040" y="503428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94800" y="503428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5298948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240280" y="5298948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355080" y="5298948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635240" y="5298948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144000" y="5298948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515600" y="5298948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08000" y="534974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2025-151-02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91080" y="534974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Causality in Environmental Policy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05880" y="534974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686040" y="534974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194800" y="534974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57200" y="5614416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240280" y="5614416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355080" y="5614416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35240" y="5614416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144000" y="5614416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515600" y="5614416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08000" y="566521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2025-153-01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291080" y="566521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Governance Roles &amp; Responsibilities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405880" y="566521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86040" y="566521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94800" y="566521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7200" y="5929884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240280" y="5929884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6355080" y="5929884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635240" y="5929884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144000" y="5929884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0515600" y="5929884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8000" y="598068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2026-155-01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291080" y="598068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State of the World Pattern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405880" y="598068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686040" y="598068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94800" y="598068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6473952"/>
            <a:ext cx="10991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9 of 14 scenarios are plausible_unseen by most models — enabling generalization vs. memorization analysis. Unseen status is determined by comparing ODP publication date to model training cutoff.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Models Evaluated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50876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11430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115568"/>
            <a:ext cx="2788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2480" y="1143000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Checkpoint /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15568"/>
            <a:ext cx="105156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712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115568"/>
            <a:ext cx="1874519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4400" y="1143000"/>
            <a:ext cx="18745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115568"/>
            <a:ext cx="14173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4640" y="114300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Cutoff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1115568"/>
            <a:ext cx="109728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7680" y="11430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Configs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463040"/>
            <a:ext cx="11247120" cy="713232"/>
          </a:xfrm>
          <a:prstGeom prst="rect">
            <a:avLst/>
          </a:prstGeom>
          <a:solidFill>
            <a:srgbClr val="120909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1564640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BLOOM-3B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880" y="1564640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bigscience/bloom-3b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2520" y="1564640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3B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9800" y="1564640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Base (no RLHF)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1564640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Jul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3080" y="1564640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221992"/>
            <a:ext cx="11247120" cy="713232"/>
          </a:xfrm>
          <a:prstGeom prst="rect">
            <a:avLst/>
          </a:prstGeom>
          <a:solidFill>
            <a:srgbClr val="120909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2323592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7880" y="2323592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bigscience/bloomz-7b1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2520" y="2323592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9800" y="2323592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40040" y="2323592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Jul 2022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3080" y="2323592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980944"/>
            <a:ext cx="11247120" cy="713232"/>
          </a:xfrm>
          <a:prstGeom prst="rect">
            <a:avLst/>
          </a:prstGeom>
          <a:solidFill>
            <a:srgbClr val="141008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400" y="3082544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7880" y="3082544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Mistral-7B-Instruct-v0.3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2520" y="3082544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19800" y="3082544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3082544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3080" y="3082544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060E0A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3400" y="3841496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87880" y="3841496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Llama-3.1-8B-Instruct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2520" y="3841496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8B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9800" y="3841496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3841496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Dec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03080" y="3841496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98848"/>
            <a:ext cx="11247120" cy="713232"/>
          </a:xfrm>
          <a:prstGeom prst="rect">
            <a:avLst/>
          </a:prstGeom>
          <a:solidFill>
            <a:srgbClr val="0B0F14"/>
          </a:solidFill>
          <a:ln w="12700">
            <a:solidFill>
              <a:srgbClr val="2E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4600448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Llama-2-70B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87880" y="4600448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Llama-2-70b-chat-hf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2520" y="4600448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70B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19800" y="4600448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Chat (RLHF)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40040" y="4600448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Sep 2022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3080" y="4600448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0E0D12"/>
          </a:solidFill>
          <a:ln w="12700">
            <a:solidFill>
              <a:srgbClr val="3B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3400" y="5359400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87880" y="5359400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OpenAI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22520" y="5359400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Proprietary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19800" y="5359400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RLHF + API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5359400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~2024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03080" y="5359400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126480"/>
            <a:ext cx="11247120" cy="594360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" y="6217920"/>
            <a:ext cx="109910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Execution: Open-source models via Hugging Face Transformers on GPU (4-bit quant for 70B). GPT-5.4 via OpenAI API. Temperature = 0.0, max_new_tokens = 1024 for all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Prompting Strategies — 5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6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1. scenario-only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Model receives only the domain scenario text
• Must infer modeling scope from narrative alone
• Highest scenario vocabulary coverage (0.440)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115568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199" y="1225296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2. cq-only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199" y="1499616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Model receives only the Competency Questions
• Highest CQ coverage (0.844 avg)
• Also highest hallucination ratio (0.548)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115568"/>
            <a:ext cx="466344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22529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3. scenario-cq  [Balanced]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499616"/>
            <a:ext cx="4389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Both scenario text and CQs provided
• Requires scenario→axiom &amp; CQ→axiom mapping
• Best balance of CQ + scenario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60"/>
                </a:solidFill>
              </a:rPr>
              <a:t>4. scenario-cq-constraints  [Validation]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Adds 6-item self-validation checklist
• Syntax, domain/range, coherence, scope checks
• Lowest hallucination after reasoning (0.392)
• Lowest parse success (29%) — extra text confuses parsers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3200400"/>
            <a:ext cx="75895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33101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5. scenario-cq-reasoning  [Best Faithfulness]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584448"/>
            <a:ext cx="7315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6-step internal reasoning: extract requirements → propose classes →
•   draft axioms → verify CQs → remove unsupported → output ODP
• Lowest hallucination overall: 0.367
• Best scenario coverage among CQ-aware configs (0.379)
• Good CQ coverage: 0.748 on successful parses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291072"/>
            <a:ext cx="11247120" cy="475488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6382512"/>
            <a:ext cx="10991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All prompts use standard prefixes (owl:, rdf:, rdfs:, xsd:, :) and require a mandatory owl:Ontology header with rdfs:label and rdfs:comment.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Evaluation Methodology — 4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24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8EBF"/>
                </a:solidFill>
              </a:rPr>
              <a:t>Layer 1 — Formal / Syntactic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parse_success — Valid Turtle syntax?
• triple_count — Total RDF triples
• ontology_declared — owl:Ontology header?
• label_coverage_ratio — all named entities with rdfs:label
• class_label_ratio [NEW] — owl:Class entities with rdfs:label
• property_label_ratio [NEW] — Obj/Data/Ann properties with rdfs:label
• comment_coverage_ratio — entities with rdfs:comment
• domain_range_ratio — rdfs:domain &amp; rdfs:range
• class_count, property_count — pattern size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11556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2529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Layer 2 — Scenario Faithfulness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9961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cq_coverage_ratio — CQs answerable (token overlap)
• cq_mean_token_recall — avg recall per CQ
• scenario_coverage_ratio — scenario vocab in ontology
• hallucination_ratio — unsupported vocab fraction
• ontology_vocab_size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3872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6484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60"/>
                </a:solidFill>
              </a:rPr>
              <a:t>Layer 3 — Semantic Similarity (vs Ground Truth)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92277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class_name_precision / recall / F1 — name match vs ground truth
• property_name_precision / recall / F1 — same for properties
• class_jaccard, property_jaccard — |A∩B|/|A∪B| set similarity
• combined_f1 — macro avg of class + property F1
• matched_class_names — class names in both generated &amp; GT
• matched_property_names — property names in both generated &amp; GT
•   e.g. 'event', 'has effect', 'relational database'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53872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3B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6484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9DDB"/>
                </a:solidFill>
              </a:rPr>
              <a:t>Layer 4 — Feasibility &amp; Unseen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2277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(model, ODP) labelled plausible_unseen or likely_seen
• Compares ODP pub date vs. model training cutoff
• Confidence: high / medium / low
• Enables generalization vs. memorization analysis
• Future: human eval — Correctness, Completeness,
•   Clarity/Reusability (1–5 scale)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99632"/>
            <a:ext cx="11247120" cy="566928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6291072"/>
            <a:ext cx="10991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Pipeline: evaluate_outputs.py → eval/formal_quality.py + eval/faithfulness.py + eval/similarity.py → results/summary.csv  (350 rows × 44 columns, incl. class_label_ratio &amp; property_label_ratio)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Raw Output Examples — Scenario 2023-133-01 (Causal Bayesian Network)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2A4"/>
                </a:solidFill>
              </a:rPr>
              <a:t>Scenario: "Model a causal Bayesian network over events (RainySeason, SprinklerOn, Raining, WetPavement, SlipperyPavement) with weighted causal edges and mediators as an ODP."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GPT-5.4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70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80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:CausalRelation a owl:Class .
:MediatedCausalRelation
  rdfs:subClassOf :CausalRelation .
:hasCause a owl:ObjectProperty .
:effectWeight a owl:DatatypeProperty .
# Full mapping tables included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Full class hierarchy · CQ→axiom mapping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532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262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072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:RainySeasonEvent rdfs:subClassOf :Event .
:WetPavement rdfs:subClassOf :Event .
:Cause a owl:ObjectProperty .
:Weight a owl:DatatypeProperty .
# Causal instances with weights 0.6, 0.8, 0.9, 0.7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Instance-level causal chain · Lowest hallucination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724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Llama-2-70B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454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264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:RainySeason rdfs:subClassOf :Event .
:SprinklerOn rdfs:subClassOf :Event .
:CausalRelation a owl:ObjectProperty .
:EffectWeight a owl:DatatypeProperty ;
  rdfs:range xsd:decimal 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724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Simpler structure · Scenario mapping section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39"/>
            <a:ext cx="3703320" cy="2331720"/>
          </a:xfrm>
          <a:prstGeom prst="rect">
            <a:avLst/>
          </a:prstGeom>
          <a:solidFill>
            <a:srgbClr val="110D06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C060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070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880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:CausalLink a owl:Class .
:causes a owl:ObjectProperty .
:effectWeight a owl:DatatypeProperty .
# Uses Manchester-style 'some' restriction
# → Parser fails on 71% of scenario-cq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Mixes Manchester syntax in Turtle → parse failures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977639"/>
            <a:ext cx="3703320" cy="2331720"/>
          </a:xfrm>
          <a:prstGeom prst="rect">
            <a:avLst/>
          </a:prstGeom>
          <a:solidFill>
            <a:srgbClr val="100707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532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262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072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"What if the pavement is wet, how would
it effect the pavement being slippery?"
-- Model rephrases the CQ instead of
   generating an ontology --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0% parse rate · Outputs natural language 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977639"/>
            <a:ext cx="3703320" cy="2331720"/>
          </a:xfrm>
          <a:prstGeom prst="rect">
            <a:avLst/>
          </a:prstGeom>
          <a:solidFill>
            <a:srgbClr val="100707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724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BLOOM-3B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8454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2264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"If the pavement is wet, the pavement is wet.
If the pavement is wet, the pavement is not wet.
If the pavement is not wet, the pavement is wet…"
-- Repetitive hallucinations --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24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Base model · No instruction following · Degenerate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Results — Parse Success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is the primary gate metric — an ontology must be valid Turtle before any quality metrics apply.  Total: 364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11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Llama-3.1-8B-Instruct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78308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783080"/>
            <a:ext cx="4014764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684" y="182118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75.7%  (53/70)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8810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Llama-2-70B-chat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350008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350008"/>
            <a:ext cx="3484412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3332" y="2388108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65.7%  (46/70)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5503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Mistral-7B-Instruct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916936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2916936"/>
            <a:ext cx="2195657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4577" y="29550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41.4%  (29/70)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19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483864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0" y="3483864"/>
            <a:ext cx="1967605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6525" y="3521964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37.1%  (26/70)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8889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BLOOMZ-7B1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050792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4050792"/>
            <a:ext cx="25400" cy="402336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4320" y="40888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0%  (0/70)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5582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BLOOM-3B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461772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4617720"/>
            <a:ext cx="25400" cy="402336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4320" y="465582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0%  (0/14)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Configuration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8211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cq-only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178308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1783080"/>
            <a:ext cx="3182112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914632" y="182118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60.0%  (42/70)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38810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0" y="2350008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0" y="2350008"/>
            <a:ext cx="2726009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58529" y="2388108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51.4%  (36/70)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5503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916936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86800" y="2916936"/>
            <a:ext cx="2084283" cy="402336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16803" y="29550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39.3%  (33/84)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219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scenario-cq-reasoning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6800" y="3483864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0" y="3483864"/>
            <a:ext cx="1744858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77378" y="3521964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32.9%  (23/70)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08889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scenario-cq-constraints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0" y="4050792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86800" y="4050792"/>
            <a:ext cx="1516806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49326" y="40888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28.6%  (20/70)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49240"/>
            <a:ext cx="11247120" cy="621792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5440680"/>
            <a:ext cx="109910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Insight: Complex prompts (constraints, reasoning) reduce parse success for smaller models — extra output structure interferes with Turtle extraction. GPT-5.4 scores 0% on reasoning/constraints configs, while Llama-3.1-8B maintains 64–71% even there.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080760"/>
            <a:ext cx="11247120" cy="621792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6172200"/>
            <a:ext cx="109910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GPT paradox: GPT-5.4 achieves 86% parse rate on cq-only (best in class!) but only 37% overall because complex prompts wrap the ontology in non-Turtle formatting the parser cannot extract.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Results — Quality Metrics (Successful Parses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Metrics computed only when parse_success = True.  350 runs × 44 metrics.  New: class_label_ratio &amp; property_label_ratio split from the aggregate label_coverage_ratio.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64592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14904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463040"/>
            <a:ext cx="109728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86940" y="1490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Parse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63040"/>
            <a:ext cx="11430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9940" y="14904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CQ Coverage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463040"/>
            <a:ext cx="109728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8660" y="1490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Scenario Cov.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463040"/>
            <a:ext cx="11430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1660" y="14904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Hallucination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63040"/>
            <a:ext cx="11430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0380" y="14904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Class Label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463040"/>
            <a:ext cx="118872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39100" y="149047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Prop Label 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63040"/>
            <a:ext cx="105156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3540" y="1490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Combined F1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01368"/>
            <a:ext cx="9829800" cy="484632"/>
          </a:xfrm>
          <a:prstGeom prst="rect">
            <a:avLst/>
          </a:prstGeom>
          <a:solidFill>
            <a:srgbClr val="0F0C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000" y="1902968"/>
            <a:ext cx="159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GPT-5.4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9640" y="1902968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37.1%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640" y="1902968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0.804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1360" y="1902968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4360" y="1902968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0.585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3080" y="1902968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51800" y="1902968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6240" y="1902968"/>
            <a:ext cx="1000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0.110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322575"/>
            <a:ext cx="9829800" cy="484632"/>
          </a:xfrm>
          <a:prstGeom prst="rect">
            <a:avLst/>
          </a:prstGeom>
          <a:solidFill>
            <a:srgbClr val="040A0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000" y="2424175"/>
            <a:ext cx="159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9640" y="2424175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75.7%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2640" y="2424175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0.729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1360" y="2424175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0.335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74360" y="2424175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63080" y="2424175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51800" y="2424175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6240" y="2424175"/>
            <a:ext cx="1000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0.071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843782"/>
            <a:ext cx="9829800" cy="484632"/>
          </a:xfrm>
          <a:prstGeom prst="rect">
            <a:avLst/>
          </a:prstGeom>
          <a:solidFill>
            <a:srgbClr val="080B0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000" y="2945382"/>
            <a:ext cx="159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Llama-2-70B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9640" y="2945382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65.7%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2640" y="2945382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0.689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31360" y="2945382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0.258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4360" y="2945382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0.489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3080" y="2945382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51800" y="2945382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0.717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6240" y="2945382"/>
            <a:ext cx="1000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364989"/>
            <a:ext cx="9829800" cy="484632"/>
          </a:xfrm>
          <a:prstGeom prst="rect">
            <a:avLst/>
          </a:prstGeom>
          <a:solidFill>
            <a:srgbClr val="0F0C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8000" y="3466589"/>
            <a:ext cx="159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9640" y="3466589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41.4%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2640" y="3466589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0.615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1360" y="3466589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0.279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74360" y="3466589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0.459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63080" y="3466589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51800" y="3466589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0.966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86240" y="3466589"/>
            <a:ext cx="1000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0.059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886196"/>
            <a:ext cx="9829800" cy="48463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8000" y="3987796"/>
            <a:ext cx="159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9640" y="3987796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42640" y="3987796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1360" y="3987796"/>
            <a:ext cx="104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74360" y="3987796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63080" y="3987796"/>
            <a:ext cx="1092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51800" y="3987796"/>
            <a:ext cx="113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86240" y="3987796"/>
            <a:ext cx="1000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590288"/>
            <a:ext cx="11247120" cy="47548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" y="4681728"/>
            <a:ext cx="10991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class_label_ratio = 1.000 for ALL models — classes always annotated.  property_label_ratio reveals the gap: Llama-2-70B leaves 28% of properties unlabelled (0.717); Mistral-7B is the most diligent (0.966).  The old aggregate label_coverage_ratio (always 1.0) masked this.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51663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Average Quality Metrics by Configuration (successful parses)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468112"/>
            <a:ext cx="224028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5300" y="5495544"/>
            <a:ext cx="2240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Config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0" y="5468112"/>
            <a:ext cx="137160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81300" y="549554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CQ Cov.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60520" y="5468112"/>
            <a:ext cx="137160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98620" y="549554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Scen. Cov.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0" y="5468112"/>
            <a:ext cx="137160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15940" y="549554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Halluc.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995160" y="5468112"/>
            <a:ext cx="114300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33260" y="5495544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Cls Lbl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83879" y="5468112"/>
            <a:ext cx="141732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21979" y="5495544"/>
            <a:ext cx="1417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Prop Lbl ★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646920" y="5468112"/>
            <a:ext cx="109728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85020" y="549554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F1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5760720"/>
            <a:ext cx="10287000" cy="19202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95300" y="5773420"/>
            <a:ext cx="2240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6C6C"/>
                </a:solidFill>
              </a:rPr>
              <a:t>cq-only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1300" y="5773420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98620" y="5773420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0.182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15940" y="5773420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0.548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33260" y="5773420"/>
            <a:ext cx="1143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1979" y="5773420"/>
            <a:ext cx="14173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0.833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85020" y="5773420"/>
            <a:ext cx="1097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0.088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7200" y="5971032"/>
            <a:ext cx="10287000" cy="19202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5300" y="5983732"/>
            <a:ext cx="2240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scenario-cq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81300" y="5983732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98620" y="5983732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0.346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15940" y="5983732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0.416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33260" y="5983732"/>
            <a:ext cx="1143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1979" y="5983732"/>
            <a:ext cx="14173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0.788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85020" y="5983732"/>
            <a:ext cx="1097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0.086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6181344"/>
            <a:ext cx="10287000" cy="19202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6194044"/>
            <a:ext cx="2240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60"/>
                </a:solidFill>
              </a:rPr>
              <a:t>scenario-cq-constraints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81300" y="6194044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0.836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8620" y="6194044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0.282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15940" y="6194044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0.392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33260" y="6194044"/>
            <a:ext cx="1143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1979" y="6194044"/>
            <a:ext cx="14173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0.850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85020" y="6194044"/>
            <a:ext cx="1097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0.056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391656"/>
            <a:ext cx="10287000" cy="19202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95300" y="6404356"/>
            <a:ext cx="2240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CAF7D"/>
                </a:solidFill>
              </a:rPr>
              <a:t>scenario-cq-reasoning 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81300" y="6404356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0.748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98620" y="6404356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0.379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15940" y="6404356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0.367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3260" y="6404356"/>
            <a:ext cx="1143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1979" y="6404356"/>
            <a:ext cx="14173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685020" y="6404356"/>
            <a:ext cx="1097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0.082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57200" y="6601968"/>
            <a:ext cx="10287000" cy="19202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95300" y="6614668"/>
            <a:ext cx="2240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92A4"/>
                </a:solidFill>
              </a:rPr>
              <a:t>scenario-only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81300" y="6614668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0.352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198620" y="6614668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0.440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15940" y="6614668"/>
            <a:ext cx="13716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0.451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033260" y="6614668"/>
            <a:ext cx="11430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1.000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1979" y="6614668"/>
            <a:ext cx="141732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0.861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685020" y="6614668"/>
            <a:ext cx="109728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0.059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Matched Class &amp; Property Names vs. Ground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Names found in BOTH the generated ontology and the ground-truth (case-folded, CamelCase split). Low F1 does not mean zero conceptual overlap — models do capture key domain terms.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3657600" cy="164592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184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How matching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92808"/>
            <a:ext cx="3383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Local name extracted from URI (:hasCause → 'has cause')
• CamelCase split: HasEffect → 'has effect'
• Case-folded and whitespace-normalised
• Precision = |matched| / |generated|
• Recall    = |matched| / |ground truth|
• F1        = harmonic mean of P &amp;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50876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Examples — GPT-5.4 / cq-only (successful parses with ground truth)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1874519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8480" y="1856231"/>
            <a:ext cx="18745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Scenario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260604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8720" y="1856231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Matched 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301752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20480" y="1856231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Matched Properties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139696"/>
            <a:ext cx="1874519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139696"/>
            <a:ext cx="260604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2139696"/>
            <a:ext cx="301752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8480" y="2190496"/>
            <a:ext cx="17729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2023-133-01
Causal 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720" y="2190496"/>
            <a:ext cx="250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event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0480" y="2190496"/>
            <a:ext cx="291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B4F8"/>
                </a:solidFill>
              </a:rPr>
              <a:t>has effect, has outcome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779776"/>
            <a:ext cx="1874519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779776"/>
            <a:ext cx="2606040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2779776"/>
            <a:ext cx="3017520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8480" y="2830576"/>
            <a:ext cx="17729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2023-135-01
Role Naming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8720" y="2830576"/>
            <a:ext cx="250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name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0480" y="2830576"/>
            <a:ext cx="291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B4F8"/>
                </a:solidFill>
              </a:rPr>
              <a:t>has name usage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419856"/>
            <a:ext cx="1874519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419856"/>
            <a:ext cx="260604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69680" y="3419856"/>
            <a:ext cx="301752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8480" y="3470656"/>
            <a:ext cx="17729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2025-149-01
Temporal Indir.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8720" y="3470656"/>
            <a:ext cx="250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relational database,
table, column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20480" y="3470656"/>
            <a:ext cx="291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B4F8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4059936"/>
            <a:ext cx="1874519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4059936"/>
            <a:ext cx="2606040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69680" y="4059936"/>
            <a:ext cx="3017520" cy="60350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8480" y="4110736"/>
            <a:ext cx="17729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2025-151-01
Eval 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8720" y="4110736"/>
            <a:ext cx="250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evaluation 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0480" y="4110736"/>
            <a:ext cx="291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B4F8"/>
                </a:solidFill>
              </a:rPr>
              <a:t>requested action, issued by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4700016"/>
            <a:ext cx="1874519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4700016"/>
            <a:ext cx="260604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69680" y="4700016"/>
            <a:ext cx="3017520" cy="60350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48480" y="4750816"/>
            <a:ext cx="17729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2025-153-01
Governance Roles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8720" y="4750816"/>
            <a:ext cx="250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entity, temporal binding,
transition rule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20480" y="4750816"/>
            <a:ext cx="291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B4F8"/>
                </a:solidFill>
              </a:rPr>
              <a:t>has temporal binding,
binds identifier, has transition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Property Label Ratio by Model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6957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Mistral-7B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3657600"/>
            <a:ext cx="3474720" cy="4572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0" y="3657600"/>
            <a:ext cx="3356579" cy="45720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45499" y="36957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0.966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174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4279392"/>
            <a:ext cx="3474720" cy="4572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0" y="4279392"/>
            <a:ext cx="3075127" cy="45720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64047" y="43174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0.885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9392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Llama-3.1-8B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4901184"/>
            <a:ext cx="3474720" cy="4572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0" y="4901184"/>
            <a:ext cx="2884017" cy="457200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72937" y="49392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0.830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55610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Llama-2-70B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5522976"/>
            <a:ext cx="3474720" cy="4572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0" y="5522976"/>
            <a:ext cx="2491374" cy="457200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80294" y="556107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0.717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6291072"/>
            <a:ext cx="11247120" cy="47548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6382512"/>
            <a:ext cx="10991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class_label_ratio = 1.000 for ALL models on ALL successful parses.  The split metric reveals that Llama-2-70B neglects property annotations (0.717); scenario-cq config yields the worst property labelling (0.788) while scenario-only is best (0.861).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Model × Config Parse Success Heatmap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rate for each (model, config) pair. 14 scenarios per cell.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1400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cq-only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4168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56936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scenario-cq-
constraints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4304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9704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scenario-cq-
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77072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02472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9840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5240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Average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93392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94992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BLOOMZ-7B1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58768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58768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31536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1536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04304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04304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15184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716784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615184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8768" y="2615184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31536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31536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4304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04304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77072" y="2615184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77072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49840" y="2615184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37%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236976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3338576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Llama-2-70B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3236976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86000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58768" y="3236976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58768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31536" y="3236976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1536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04304" y="3236976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77072" y="3236976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77072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49840" y="3236976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49840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66%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3858768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3960368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0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86000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58768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58768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31536" y="3858768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31536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64%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04304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04304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77072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77072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49840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49840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4480560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4582160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Mistral-7B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0" y="4480560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86000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58768" y="4480560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58768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29%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31536" y="4480560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31536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4304" y="4480560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04304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43%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77072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77072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149840" y="4480560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149840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41%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5989320"/>
            <a:ext cx="6858000" cy="749808"/>
          </a:xfrm>
          <a:prstGeom prst="rect">
            <a:avLst/>
          </a:prstGeom>
          <a:solidFill>
            <a:srgbClr val="0C1D14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" y="6080760"/>
            <a:ext cx="66019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Llama-3.1-8B is the only model maintaining &gt;60% parse success across ALL 5 configs — including difficult constraint/reasoning prompts.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98079" y="5989320"/>
            <a:ext cx="4206240" cy="74980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62671" y="6080760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GPT-5.4: 86% on cq-only (best!) but 0% on reasoning &amp; constraints — prompt format breaks Turtle extraction.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Summary &amp; Best Performing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029200" cy="3291840"/>
          </a:xfrm>
          <a:prstGeom prst="rect">
            <a:avLst/>
          </a:prstGeom>
          <a:solidFill>
            <a:srgbClr val="07180E"/>
          </a:solidFill>
          <a:ln w="25400">
            <a:solidFill>
              <a:srgbClr val="2A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AF7D"/>
                </a:solidFill>
              </a:rPr>
              <a:t>★  Best Overall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AF0"/>
                </a:solidFill>
              </a:rPr>
              <a:t>Llama-3.1-8B-Instruct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9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Parse success:    75.7%  (highest across all configs)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140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Hallucination:    0.345  (lowest — most faithful)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980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CQ coverage:      0.729  (good on successful runs)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821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Consistent across ALL 5 prompt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661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Open-source · 8B params · GPU-deployable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26280"/>
            <a:ext cx="2423160" cy="2176272"/>
          </a:xfrm>
          <a:prstGeom prst="rect">
            <a:avLst/>
          </a:prstGeom>
          <a:solidFill>
            <a:srgbClr val="12120A"/>
          </a:solidFill>
          <a:ln w="25400">
            <a:solidFill>
              <a:srgbClr val="8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617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🥈  Best Quality When Parsed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9194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303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CQ coverage: 0.804 (best)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Combined F1: 0.110 (best)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253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But: 0% parse rate on complex configs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High hallucination: 0.585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4526280"/>
            <a:ext cx="2423160" cy="2176272"/>
          </a:xfrm>
          <a:prstGeom prst="rect">
            <a:avLst/>
          </a:prstGeom>
          <a:solidFill>
            <a:srgbClr val="100D06"/>
          </a:solidFill>
          <a:ln w="25400">
            <a:solidFill>
              <a:srgbClr val="805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27248" y="4617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🥉  Best Runner-Up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49194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AF0"/>
                </a:solidFill>
              </a:rPr>
              <a:t>Llama-2-70B-chat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52303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Parse rate: 65.7% (2nd)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CQ coverage: 0.689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59253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Consistent across 4/5 configs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62727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More params ≠ better than 3.1-8B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1097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AB4F8"/>
                </a:solidFill>
              </a:rPr>
              <a:t>Key Findings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1508760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0" y="161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161036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Model size ≠ performance. Llama-3.1-8B (8B) outperforms Llama-2-70B (70B) and GPT-5.4 on parse reliability.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2240280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34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234188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Instruction-following quality matters more than raw capacity for structured Turtle generation.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971800"/>
            <a:ext cx="457200" cy="594360"/>
          </a:xfrm>
          <a:prstGeom prst="rect">
            <a:avLst/>
          </a:prstGeom>
          <a:solidFill>
            <a:srgbClr val="1E180C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073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C060"/>
                </a:solidFill>
              </a:rPr>
              <a:t>F3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307340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CQ-only prompt maximises CQ coverage (0.844) but introduces most hallucination (0.548). Scenario context reduces hallucination by 24%.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3703320"/>
            <a:ext cx="457200" cy="594360"/>
          </a:xfrm>
          <a:prstGeom prst="rect">
            <a:avLst/>
          </a:prstGeom>
          <a:solidFill>
            <a:srgbClr val="11161F"/>
          </a:solidFill>
          <a:ln w="12700">
            <a:solidFill>
              <a:srgbClr val="2E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80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B4F8"/>
                </a:solidFill>
              </a:rPr>
              <a:t>F4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380492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Reasoning-guided prompts (scenario-cq-reasoning) achieve lowest hallucination (0.367) — best faithfulness-quality tradeoff.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4434840"/>
            <a:ext cx="457200" cy="594360"/>
          </a:xfrm>
          <a:prstGeom prst="rect">
            <a:avLst/>
          </a:prstGeom>
          <a:solidFill>
            <a:srgbClr val="1C0D0D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0" y="4536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453644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BLOOM-family models (3B, 7B): 0% parse success. Base models without instruction tuning are unsuitable for ODP generation.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5166360"/>
            <a:ext cx="457200" cy="594360"/>
          </a:xfrm>
          <a:prstGeom prst="rect">
            <a:avLst/>
          </a:prstGeom>
          <a:solidFill>
            <a:srgbClr val="111214"/>
          </a:solidFill>
          <a:ln w="12700">
            <a:solidFill>
              <a:srgbClr val="2D30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5267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892A4"/>
                </a:solidFill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526796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Ground-truth F1 universally low (0.06–0.11): LLMs diverge in naming from expert ontologists even when semantically correct.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solidFill>
            <a:srgbClr val="0C1D14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6565392"/>
            <a:ext cx="1099108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Recommendation: Llama-3.1-8B-Instruct + scenario-cq-reasoning = best balance of syntactic validity, faithfulness &amp; hallucination control for open-source ODP generation.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